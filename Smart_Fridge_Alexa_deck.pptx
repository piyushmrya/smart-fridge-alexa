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9"/>
    <p:sldId id="259" r:id="rId11"/>
    <p:sldId id="265" r:id="rId17"/>
    <p:sldId id="260" r:id="rId12"/>
    <p:sldId id="261" r:id="rId13"/>
    <p:sldId id="262" r:id="rId14"/>
    <p:sldId id="263" r:id="rId15"/>
    <p:sldId id="264" r:id="rId16"/>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slide" Target="slides/slide2.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Fridge Alexa: a camera reads the fridge, an Alexa+ style assistant answers questions about it, and a dish agent suggests meals that use up what is about to spoil.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touches four services. The simulator calls the MCP server; the server reads the fridge from the classifier and asks the dish agent for meals.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is a web UI with an LLM agent acting as an MCP client, like Alexa+. It discovers tools and calls them, and the trace shows each call with timing.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tools in three groups. Results are cached and refreshed in the background. If the camera is down it says so, instead of claiming the fridge is empty.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dish agent puts items about to spoil first and returns up to three dishes with reasons, what you have, what is missing and steps. It has four tools of its own and falls back to 14 built-in recipes.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LLM-backed part tries Bedrock through Strands when AWS credentials exist, then Anthropic, then OpenAI, then a built-in fallback. A failing provider is skipped for five minutes. The demo runs on Anthropic.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key is enough: put ANTHROPIC_API_KEY in .env, install requirements, start four processes, open the simulator.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simulator, ask the three questions, and point at the trace of tool calls and timings.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3" name="Kicker"/>
          <p:cNvSpPr txBox="1"/>
          <p:nvPr/>
        </p:nvSpPr>
        <p:spPr>
          <a:xfrm>
            <a:off x="731520" y="1828800"/>
            <a:ext cx="10698480" cy="32004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SMART FRIDGE  //  ALEXA+ HACKATHON SUBMISSION</a:t>
            </a:r>
            <a:endParaRPr lang="en-US" sz="1300" dirty="0"/>
          </a:p>
        </p:txBody>
      </p:sp>
      <p:sp>
        <p:nvSpPr>
          <p:cNvPr id="4" name="Title"/>
          <p:cNvSpPr txBox="1"/>
          <p:nvPr/>
        </p:nvSpPr>
        <p:spPr>
          <a:xfrm>
            <a:off x="731520" y="2240280"/>
            <a:ext cx="10698480" cy="914400"/>
          </a:xfrm>
          <a:prstGeom prst="rect">
            <a:avLst/>
          </a:prstGeom>
          <a:noFill/>
          <a:ln/>
        </p:spPr>
        <p:txBody>
          <a:bodyPr wrap="square" lIns="0" tIns="0" rIns="0" bIns="0" rtlCol="0" anchor="ctr"/>
          <a:lstStyle/>
          <a:p>
            <a:pPr indent="0" marL="0">
              <a:buNone/>
            </a:pPr>
            <a:r>
              <a:rPr lang="en-US" sz="4800" b="1" dirty="0">
                <a:solidFill>
                  <a:srgbClr val="F8FAFC"/>
                </a:solidFill>
                <a:latin typeface="Arial" pitchFamily="34" charset="0"/>
                <a:ea typeface="Arial" pitchFamily="34" charset="-122"/>
                <a:cs typeface="Arial" pitchFamily="34" charset="-120"/>
              </a:rPr>
              <a:t>Smart Fridge Alexa</a:t>
            </a:r>
            <a:endParaRPr lang="en-US" sz="4800" dirty="0"/>
          </a:p>
        </p:txBody>
      </p:sp>
      <p:sp>
        <p:nvSpPr>
          <p:cNvPr id="5" name="Subtitle"/>
          <p:cNvSpPr txBox="1"/>
          <p:nvPr/>
        </p:nvSpPr>
        <p:spPr>
          <a:xfrm>
            <a:off x="731520" y="3200400"/>
            <a:ext cx="10058400" cy="457200"/>
          </a:xfrm>
          <a:prstGeom prst="rect">
            <a:avLst/>
          </a:prstGeom>
          <a:noFill/>
          <a:ln/>
        </p:spPr>
        <p:txBody>
          <a:bodyPr wrap="square" lIns="0" tIns="0" rIns="0" bIns="0" rtlCol="0" anchor="ctr"/>
          <a:lstStyle/>
          <a:p>
            <a:pPr indent="0" marL="0">
              <a:buNone/>
            </a:pPr>
            <a:r>
              <a:rPr lang="en-US" sz="2000" dirty="0">
                <a:solidFill>
                  <a:srgbClr val="94A3B8"/>
                </a:solidFill>
                <a:latin typeface="Arial" pitchFamily="34" charset="0"/>
                <a:ea typeface="Arial" pitchFamily="34" charset="-122"/>
                <a:cs typeface="Arial" pitchFamily="34" charset="-120"/>
              </a:rPr>
              <a:t>Ask what's in your fridge. Get dinner ideas that use up what's about to spoil.</a:t>
            </a:r>
            <a:endParaRPr lang="en-US" sz="2000" dirty="0"/>
          </a:p>
        </p:txBody>
      </p:sp>
      <p:sp>
        <p:nvSpPr>
          <p:cNvPr id="6" name="Chip 1"/>
          <p:cNvSpPr/>
          <p:nvPr/>
        </p:nvSpPr>
        <p:spPr>
          <a:xfrm>
            <a:off x="731520" y="4206240"/>
            <a:ext cx="3140964" cy="457200"/>
          </a:xfrm>
          <a:prstGeom prst="roundRect">
            <a:avLst>
              <a:gd name="adj" fmla="val 50000"/>
            </a:avLst>
          </a:prstGeom>
          <a:solidFill>
            <a:srgbClr val="121826"/>
          </a:solidFill>
          <a:ln w="15875">
            <a:solidFill>
              <a:srgbClr val="34D399"/>
            </a:solidFill>
            <a:prstDash val="solid"/>
          </a:ln>
        </p:spPr>
      </p:sp>
      <p:sp>
        <p:nvSpPr>
          <p:cNvPr id="7" name="Chip text 1"/>
          <p:cNvSpPr txBox="1"/>
          <p:nvPr/>
        </p:nvSpPr>
        <p:spPr>
          <a:xfrm>
            <a:off x="731520" y="4206240"/>
            <a:ext cx="3140964"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Classifier + Edge API</a:t>
            </a:r>
            <a:endParaRPr lang="en-US" sz="1300" dirty="0"/>
          </a:p>
        </p:txBody>
      </p:sp>
      <p:sp>
        <p:nvSpPr>
          <p:cNvPr id="8" name="Chip 2"/>
          <p:cNvSpPr/>
          <p:nvPr/>
        </p:nvSpPr>
        <p:spPr>
          <a:xfrm>
            <a:off x="4101084" y="4206240"/>
            <a:ext cx="1783080" cy="457200"/>
          </a:xfrm>
          <a:prstGeom prst="roundRect">
            <a:avLst>
              <a:gd name="adj" fmla="val 50000"/>
            </a:avLst>
          </a:prstGeom>
          <a:solidFill>
            <a:srgbClr val="121826"/>
          </a:solidFill>
          <a:ln w="15875">
            <a:solidFill>
              <a:srgbClr val="38BDF8"/>
            </a:solidFill>
            <a:prstDash val="solid"/>
          </a:ln>
        </p:spPr>
      </p:sp>
      <p:sp>
        <p:nvSpPr>
          <p:cNvPr id="9" name="Chip text 2"/>
          <p:cNvSpPr txBox="1"/>
          <p:nvPr/>
        </p:nvSpPr>
        <p:spPr>
          <a:xfrm>
            <a:off x="4101084" y="4206240"/>
            <a:ext cx="1783080"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MCP server</a:t>
            </a:r>
            <a:endParaRPr lang="en-US" sz="1300" dirty="0"/>
          </a:p>
        </p:txBody>
      </p:sp>
      <p:sp>
        <p:nvSpPr>
          <p:cNvPr id="10" name="Chip 3"/>
          <p:cNvSpPr/>
          <p:nvPr/>
        </p:nvSpPr>
        <p:spPr>
          <a:xfrm>
            <a:off x="6112764" y="4206240"/>
            <a:ext cx="2523744" cy="457200"/>
          </a:xfrm>
          <a:prstGeom prst="roundRect">
            <a:avLst>
              <a:gd name="adj" fmla="val 50000"/>
            </a:avLst>
          </a:prstGeom>
          <a:solidFill>
            <a:srgbClr val="121826"/>
          </a:solidFill>
          <a:ln w="15875">
            <a:solidFill>
              <a:srgbClr val="38BDF8"/>
            </a:solidFill>
            <a:prstDash val="solid"/>
          </a:ln>
        </p:spPr>
      </p:sp>
      <p:sp>
        <p:nvSpPr>
          <p:cNvPr id="11" name="Chip text 3"/>
          <p:cNvSpPr txBox="1"/>
          <p:nvPr/>
        </p:nvSpPr>
        <p:spPr>
          <a:xfrm>
            <a:off x="6112764" y="4206240"/>
            <a:ext cx="2523744"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Alexa+ simulator</a:t>
            </a:r>
            <a:endParaRPr lang="en-US" sz="1300" dirty="0"/>
          </a:p>
        </p:txBody>
      </p:sp>
      <p:sp>
        <p:nvSpPr>
          <p:cNvPr id="12" name="Chip 4"/>
          <p:cNvSpPr/>
          <p:nvPr/>
        </p:nvSpPr>
        <p:spPr>
          <a:xfrm>
            <a:off x="8865108" y="4206240"/>
            <a:ext cx="1783080" cy="457200"/>
          </a:xfrm>
          <a:prstGeom prst="roundRect">
            <a:avLst>
              <a:gd name="adj" fmla="val 50000"/>
            </a:avLst>
          </a:prstGeom>
          <a:solidFill>
            <a:srgbClr val="121826"/>
          </a:solidFill>
          <a:ln w="15875">
            <a:solidFill>
              <a:srgbClr val="FB923C"/>
            </a:solidFill>
            <a:prstDash val="solid"/>
          </a:ln>
        </p:spPr>
      </p:sp>
      <p:sp>
        <p:nvSpPr>
          <p:cNvPr id="13" name="Chip text 4"/>
          <p:cNvSpPr txBox="1"/>
          <p:nvPr/>
        </p:nvSpPr>
        <p:spPr>
          <a:xfrm>
            <a:off x="8865108" y="4206240"/>
            <a:ext cx="1783080"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Dish agent</a:t>
            </a:r>
            <a:endParaRPr lang="en-US" sz="13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SYSTEM OVERVIEW  //  ARCHITECTURE</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One question, four services</a:t>
            </a:r>
            <a:endParaRPr lang="en-US" sz="3000" dirty="0"/>
          </a:p>
        </p:txBody>
      </p:sp>
      <p:sp>
        <p:nvSpPr>
          <p:cNvPr id="5" name="Simulator box"/>
          <p:cNvSpPr/>
          <p:nvPr/>
        </p:nvSpPr>
        <p:spPr>
          <a:xfrm>
            <a:off x="731520" y="2011680"/>
            <a:ext cx="3017520" cy="1463040"/>
          </a:xfrm>
          <a:prstGeom prst="roundRect">
            <a:avLst>
              <a:gd name="adj" fmla="val 7500"/>
            </a:avLst>
          </a:prstGeom>
          <a:solidFill>
            <a:srgbClr val="121826"/>
          </a:solidFill>
          <a:ln w="12700">
            <a:solidFill>
              <a:srgbClr val="38BDF8"/>
            </a:solidFill>
            <a:prstDash val="solid"/>
          </a:ln>
        </p:spPr>
      </p:sp>
      <p:sp>
        <p:nvSpPr>
          <p:cNvPr id="6" name="Simulator text"/>
          <p:cNvSpPr txBox="1"/>
          <p:nvPr/>
        </p:nvSpPr>
        <p:spPr>
          <a:xfrm>
            <a:off x="731520" y="2011680"/>
            <a:ext cx="3017520" cy="1463040"/>
          </a:xfrm>
          <a:prstGeom prst="rect">
            <a:avLst/>
          </a:prstGeom>
          <a:noFill/>
          <a:ln/>
        </p:spPr>
        <p:txBody>
          <a:bodyPr wrap="square" lIns="1270" tIns="1270" rIns="1270" bIns="1270" rtlCol="0" anchor="ctr"/>
          <a:lstStyle/>
          <a:p>
            <a:pPr algn="ctr" indent="0" marL="0">
              <a:buNone/>
            </a:pPr>
            <a:r>
              <a:rPr lang="en-US" sz="1800" b="1" dirty="0">
                <a:solidFill>
                  <a:srgbClr val="F8FAFC"/>
                </a:solidFill>
                <a:latin typeface="Arial" pitchFamily="34" charset="0"/>
                <a:ea typeface="Arial" pitchFamily="34" charset="-122"/>
                <a:cs typeface="Arial" pitchFamily="34" charset="-120"/>
              </a:rPr>
              <a:t>Alexa+ simulator</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Web UI + LLM agent</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acting as MCP client</a:t>
            </a:r>
            <a:endParaRPr lang="en-US" sz="1800" dirty="0"/>
          </a:p>
        </p:txBody>
      </p:sp>
      <p:sp>
        <p:nvSpPr>
          <p:cNvPr id="7" name="MCP box"/>
          <p:cNvSpPr/>
          <p:nvPr/>
        </p:nvSpPr>
        <p:spPr>
          <a:xfrm>
            <a:off x="4572000" y="2011680"/>
            <a:ext cx="3017520" cy="1463040"/>
          </a:xfrm>
          <a:prstGeom prst="roundRect">
            <a:avLst>
              <a:gd name="adj" fmla="val 7500"/>
            </a:avLst>
          </a:prstGeom>
          <a:solidFill>
            <a:srgbClr val="121826"/>
          </a:solidFill>
          <a:ln w="31750">
            <a:solidFill>
              <a:srgbClr val="38BDF8"/>
            </a:solidFill>
            <a:prstDash val="solid"/>
          </a:ln>
        </p:spPr>
      </p:sp>
      <p:sp>
        <p:nvSpPr>
          <p:cNvPr id="8" name="MCP text"/>
          <p:cNvSpPr txBox="1"/>
          <p:nvPr/>
        </p:nvSpPr>
        <p:spPr>
          <a:xfrm>
            <a:off x="4572000" y="2011680"/>
            <a:ext cx="3017520" cy="1463040"/>
          </a:xfrm>
          <a:prstGeom prst="rect">
            <a:avLst/>
          </a:prstGeom>
          <a:noFill/>
          <a:ln/>
        </p:spPr>
        <p:txBody>
          <a:bodyPr wrap="square" lIns="1270" tIns="1270" rIns="1270" bIns="1270" rtlCol="0" anchor="ctr"/>
          <a:lstStyle/>
          <a:p>
            <a:pPr algn="ctr" indent="0" marL="0">
              <a:buNone/>
            </a:pPr>
            <a:r>
              <a:rPr lang="en-US" sz="1800" b="1" dirty="0">
                <a:solidFill>
                  <a:srgbClr val="F8FAFC"/>
                </a:solidFill>
                <a:latin typeface="Arial" pitchFamily="34" charset="0"/>
                <a:ea typeface="Arial" pitchFamily="34" charset="-122"/>
                <a:cs typeface="Arial" pitchFamily="34" charset="-120"/>
              </a:rPr>
              <a:t>MCP server</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11 tools, caching,</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background refresh</a:t>
            </a:r>
            <a:endParaRPr lang="en-US" sz="1800" dirty="0"/>
          </a:p>
        </p:txBody>
      </p:sp>
      <p:sp>
        <p:nvSpPr>
          <p:cNvPr id="9" name="Classifier box"/>
          <p:cNvSpPr/>
          <p:nvPr/>
        </p:nvSpPr>
        <p:spPr>
          <a:xfrm>
            <a:off x="8439912" y="2011680"/>
            <a:ext cx="3017520" cy="1463040"/>
          </a:xfrm>
          <a:prstGeom prst="roundRect">
            <a:avLst>
              <a:gd name="adj" fmla="val 7500"/>
            </a:avLst>
          </a:prstGeom>
          <a:solidFill>
            <a:srgbClr val="121826"/>
          </a:solidFill>
          <a:ln w="12700">
            <a:solidFill>
              <a:srgbClr val="34D399"/>
            </a:solidFill>
            <a:prstDash val="solid"/>
          </a:ln>
        </p:spPr>
      </p:sp>
      <p:sp>
        <p:nvSpPr>
          <p:cNvPr id="10" name="Classifier text"/>
          <p:cNvSpPr txBox="1"/>
          <p:nvPr/>
        </p:nvSpPr>
        <p:spPr>
          <a:xfrm>
            <a:off x="8439912" y="2011680"/>
            <a:ext cx="3017520" cy="1463040"/>
          </a:xfrm>
          <a:prstGeom prst="rect">
            <a:avLst/>
          </a:prstGeom>
          <a:noFill/>
          <a:ln/>
        </p:spPr>
        <p:txBody>
          <a:bodyPr wrap="square" lIns="1270" tIns="1270" rIns="1270" bIns="1270" rtlCol="0" anchor="ctr"/>
          <a:lstStyle/>
          <a:p>
            <a:pPr algn="ctr" indent="0" marL="0">
              <a:buNone/>
            </a:pPr>
            <a:r>
              <a:rPr lang="en-US" sz="1800" b="1" dirty="0">
                <a:solidFill>
                  <a:srgbClr val="F8FAFC"/>
                </a:solidFill>
                <a:latin typeface="Arial" pitchFamily="34" charset="0"/>
                <a:ea typeface="Arial" pitchFamily="34" charset="-122"/>
                <a:cs typeface="Arial" pitchFamily="34" charset="-120"/>
              </a:rPr>
              <a:t>Classifier + Edge API</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Claude vision reads</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the fridge image</a:t>
            </a:r>
            <a:endParaRPr lang="en-US" sz="1800" dirty="0"/>
          </a:p>
        </p:txBody>
      </p:sp>
      <p:sp>
        <p:nvSpPr>
          <p:cNvPr id="11" name="Dish agent box"/>
          <p:cNvSpPr/>
          <p:nvPr/>
        </p:nvSpPr>
        <p:spPr>
          <a:xfrm>
            <a:off x="4572000" y="4343400"/>
            <a:ext cx="3017520" cy="1463040"/>
          </a:xfrm>
          <a:prstGeom prst="roundRect">
            <a:avLst>
              <a:gd name="adj" fmla="val 7500"/>
            </a:avLst>
          </a:prstGeom>
          <a:solidFill>
            <a:srgbClr val="121826"/>
          </a:solidFill>
          <a:ln w="12700">
            <a:solidFill>
              <a:srgbClr val="FB923C"/>
            </a:solidFill>
            <a:prstDash val="solid"/>
          </a:ln>
        </p:spPr>
      </p:sp>
      <p:sp>
        <p:nvSpPr>
          <p:cNvPr id="12" name="Dish agent text"/>
          <p:cNvSpPr txBox="1"/>
          <p:nvPr/>
        </p:nvSpPr>
        <p:spPr>
          <a:xfrm>
            <a:off x="4572000" y="4343400"/>
            <a:ext cx="3017520" cy="1463040"/>
          </a:xfrm>
          <a:prstGeom prst="rect">
            <a:avLst/>
          </a:prstGeom>
          <a:noFill/>
          <a:ln/>
        </p:spPr>
        <p:txBody>
          <a:bodyPr wrap="square" lIns="1270" tIns="1270" rIns="1270" bIns="1270" rtlCol="0" anchor="ctr"/>
          <a:lstStyle/>
          <a:p>
            <a:pPr algn="ctr" indent="0" marL="0">
              <a:buNone/>
            </a:pPr>
            <a:r>
              <a:rPr lang="en-US" sz="1800" b="1" dirty="0">
                <a:solidFill>
                  <a:srgbClr val="F8FAFC"/>
                </a:solidFill>
                <a:latin typeface="Arial" pitchFamily="34" charset="0"/>
                <a:ea typeface="Arial" pitchFamily="34" charset="-122"/>
                <a:cs typeface="Arial" pitchFamily="34" charset="-120"/>
              </a:rPr>
              <a:t>Dish agent</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Ranks dishes, expiring</a:t>
            </a:r>
            <a:endParaRPr lang="en-US" sz="1800" dirty="0"/>
          </a:p>
          <a:p>
            <a:pPr algn="ctr" indent="0" marL="0">
              <a:buNone/>
            </a:pPr>
            <a:r>
              <a:rPr lang="en-US" sz="1300" dirty="0">
                <a:solidFill>
                  <a:srgbClr val="94A3B8"/>
                </a:solidFill>
                <a:latin typeface="Arial" pitchFamily="34" charset="0"/>
                <a:ea typeface="Arial" pitchFamily="34" charset="-122"/>
                <a:cs typeface="Arial" pitchFamily="34" charset="-120"/>
              </a:rPr>
              <a:t>items first</a:t>
            </a:r>
            <a:endParaRPr lang="en-US" sz="1800" dirty="0"/>
          </a:p>
        </p:txBody>
      </p:sp>
      <p:sp>
        <p:nvSpPr>
          <p:cNvPr id="13" name="Arrow simulator to MCP"/>
          <p:cNvSpPr/>
          <p:nvPr/>
        </p:nvSpPr>
        <p:spPr>
          <a:xfrm>
            <a:off x="3749040" y="2743200"/>
            <a:ext cx="822960" cy="0"/>
          </a:xfrm>
          <a:prstGeom prst="line">
            <a:avLst/>
          </a:prstGeom>
          <a:noFill/>
          <a:ln w="25400">
            <a:solidFill>
              <a:srgbClr val="FB923C"/>
            </a:solidFill>
            <a:prstDash val="solid"/>
            <a:tailEnd type="triangle"/>
          </a:ln>
        </p:spPr>
      </p:sp>
      <p:sp>
        <p:nvSpPr>
          <p:cNvPr id="14" name="Arrow MCP to classifier"/>
          <p:cNvSpPr/>
          <p:nvPr/>
        </p:nvSpPr>
        <p:spPr>
          <a:xfrm>
            <a:off x="7589520" y="2743200"/>
            <a:ext cx="850392" cy="0"/>
          </a:xfrm>
          <a:prstGeom prst="line">
            <a:avLst/>
          </a:prstGeom>
          <a:noFill/>
          <a:ln w="25400">
            <a:solidFill>
              <a:srgbClr val="FB923C"/>
            </a:solidFill>
            <a:prstDash val="solid"/>
            <a:tailEnd type="triangle"/>
          </a:ln>
        </p:spPr>
      </p:sp>
      <p:sp>
        <p:nvSpPr>
          <p:cNvPr id="15" name="Arrow MCP to dish agent"/>
          <p:cNvSpPr/>
          <p:nvPr/>
        </p:nvSpPr>
        <p:spPr>
          <a:xfrm>
            <a:off x="6080760" y="3474720"/>
            <a:ext cx="0" cy="868680"/>
          </a:xfrm>
          <a:prstGeom prst="line">
            <a:avLst/>
          </a:prstGeom>
          <a:noFill/>
          <a:ln w="25400">
            <a:solidFill>
              <a:srgbClr val="FB923C"/>
            </a:solidFill>
            <a:prstDash val="solid"/>
            <a:tailEnd type="triangle"/>
          </a:ln>
        </p:spPr>
      </p:sp>
      <p:sp>
        <p:nvSpPr>
          <p:cNvPr id="16" name="Label 1"/>
          <p:cNvSpPr txBox="1"/>
          <p:nvPr/>
        </p:nvSpPr>
        <p:spPr>
          <a:xfrm>
            <a:off x="3383280" y="2395728"/>
            <a:ext cx="155448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MCP tool calls</a:t>
            </a:r>
            <a:endParaRPr lang="en-US" sz="1100" dirty="0"/>
          </a:p>
        </p:txBody>
      </p:sp>
      <p:sp>
        <p:nvSpPr>
          <p:cNvPr id="17" name="Label 2"/>
          <p:cNvSpPr txBox="1"/>
          <p:nvPr/>
        </p:nvSpPr>
        <p:spPr>
          <a:xfrm>
            <a:off x="7315200" y="2395728"/>
            <a:ext cx="155448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GET /inventory</a:t>
            </a:r>
            <a:endParaRPr lang="en-US" sz="1100" dirty="0"/>
          </a:p>
        </p:txBody>
      </p:sp>
      <p:sp>
        <p:nvSpPr>
          <p:cNvPr id="18" name="Label 3"/>
          <p:cNvSpPr txBox="1"/>
          <p:nvPr/>
        </p:nvSpPr>
        <p:spPr>
          <a:xfrm>
            <a:off x="6263640" y="3749040"/>
            <a:ext cx="1645920" cy="27432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POST /suggest</a:t>
            </a:r>
            <a:endParaRPr lang="en-US" sz="1100" dirty="0"/>
          </a:p>
        </p:txBody>
      </p:sp>
      <p:sp>
        <p:nvSpPr>
          <p:cNvPr id="19" name="Ports"/>
          <p:cNvSpPr txBox="1"/>
          <p:nvPr/>
        </p:nvSpPr>
        <p:spPr>
          <a:xfrm>
            <a:off x="731520" y="6172200"/>
            <a:ext cx="1069848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PORTS   simulator 8898  ·  MCP server 8899  ·  dish agent 8897  ·  classifier 9000</a:t>
            </a:r>
            <a:endParaRPr lang="en-US" sz="11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000" b="1">
                <a:solidFill>
                  <a:srgbClr val="38BDF8"/>
                </a:solidFill>
                <a:latin typeface="Arial"/>
              </a:defRPr>
            </a:pPr>
            <a:r>
              <a:t>SMART FRIDGE PERCEPTION  //  EDGE SUBSYSTEM</a:t>
            </a:r>
          </a:p>
          <a:p>
            <a:pPr>
              <a:spcBef>
                <a:spcPts val="400"/>
              </a:spcBef>
              <a:defRPr sz="2600" b="1">
                <a:solidFill>
                  <a:srgbClr val="F8FAFC"/>
                </a:solidFill>
                <a:latin typeface="Arial"/>
              </a:defRPr>
            </a:pPr>
            <a:r>
              <a:t>Vision-Language Zero-Shot Detection &amp; Edge Inventory</a:t>
            </a:r>
          </a:p>
        </p:txBody>
      </p:sp>
      <p:sp>
        <p:nvSpPr>
          <p:cNvPr id="4" name="TextBox 3"/>
          <p:cNvSpPr txBox="1"/>
          <p:nvPr/>
        </p:nvSpPr>
        <p:spPr>
          <a:xfrm>
            <a:off x="731520" y="1645920"/>
            <a:ext cx="4389120" cy="2011680"/>
          </a:xfrm>
          <a:prstGeom prst="rect">
            <a:avLst/>
          </a:prstGeom>
          <a:noFill/>
        </p:spPr>
        <p:txBody>
          <a:bodyPr wrap="square" lIns="0" tIns="0" rIns="0" bIns="0">
            <a:spAutoFit/>
          </a:bodyPr>
          <a:lstStyle/>
          <a:p>
            <a:pPr>
              <a:defRPr sz="1100" b="1">
                <a:solidFill>
                  <a:srgbClr val="34D399"/>
                </a:solidFill>
                <a:latin typeface="Arial"/>
              </a:defRPr>
            </a:pPr>
            <a:r>
              <a:t>FASTAPI EDGE CONTRACT</a:t>
            </a:r>
          </a:p>
          <a:p>
            <a:pPr>
              <a:spcBef>
                <a:spcPts val="800"/>
              </a:spcBef>
              <a:defRPr sz="1400" b="1">
                <a:solidFill>
                  <a:srgbClr val="F8FAFC"/>
                </a:solidFill>
                <a:latin typeface="Consolas"/>
              </a:defRPr>
            </a:pPr>
            <a:r>
              <a:t>GET  /inventory</a:t>
            </a:r>
          </a:p>
          <a:p>
            <a:pPr>
              <a:spcBef>
                <a:spcPts val="200"/>
              </a:spcBef>
              <a:defRPr sz="1100">
                <a:solidFill>
                  <a:srgbClr val="94A3B8"/>
                </a:solidFill>
                <a:latin typeface="Arial"/>
              </a:defRPr>
            </a:pPr>
            <a:r>
              <a:t>Camera inference stream with tracked 2D bounding boxes, confidence, item IDs, and freshness duration.</a:t>
            </a:r>
          </a:p>
          <a:p>
            <a:pPr>
              <a:spcBef>
                <a:spcPts val="1000"/>
              </a:spcBef>
              <a:defRPr sz="1400" b="1">
                <a:solidFill>
                  <a:srgbClr val="F8FAFC"/>
                </a:solidFill>
                <a:latin typeface="Consolas"/>
              </a:defRPr>
            </a:pPr>
            <a:r>
              <a:t>PATCH  /inventory</a:t>
            </a:r>
          </a:p>
          <a:p>
            <a:pPr>
              <a:spcBef>
                <a:spcPts val="200"/>
              </a:spcBef>
              <a:defRPr sz="1100">
                <a:solidFill>
                  <a:srgbClr val="94A3B8"/>
                </a:solidFill>
                <a:latin typeface="Arial"/>
              </a:defRPr>
            </a:pPr>
            <a:r>
              <a:t>Allows downstream voice/chat agents or users to manually calibrate labels or correct counts.</a:t>
            </a:r>
          </a:p>
        </p:txBody>
      </p:sp>
      <p:sp>
        <p:nvSpPr>
          <p:cNvPr id="5" name="Rectangle 4"/>
          <p:cNvSpPr/>
          <p:nvPr/>
        </p:nvSpPr>
        <p:spPr>
          <a:xfrm>
            <a:off x="731520" y="3840480"/>
            <a:ext cx="4297680" cy="18288"/>
          </a:xfrm>
          <a:prstGeom prst="rect">
            <a:avLst/>
          </a:prstGeom>
          <a:solidFill>
            <a:srgbClr val="263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023360"/>
            <a:ext cx="4389120" cy="2286000"/>
          </a:xfrm>
          <a:prstGeom prst="rect">
            <a:avLst/>
          </a:prstGeom>
          <a:noFill/>
        </p:spPr>
        <p:txBody>
          <a:bodyPr wrap="square" lIns="0" tIns="0" rIns="0" bIns="0">
            <a:spAutoFit/>
          </a:bodyPr>
          <a:lstStyle/>
          <a:p>
            <a:pPr>
              <a:defRPr sz="1100" b="1">
                <a:solidFill>
                  <a:srgbClr val="FB923C"/>
                </a:solidFill>
                <a:latin typeface="Arial"/>
              </a:defRPr>
            </a:pPr>
            <a:r>
              <a:t>FOUNDATION VISION MODEL</a:t>
            </a:r>
          </a:p>
          <a:p>
            <a:pPr>
              <a:spcBef>
                <a:spcPts val="600"/>
              </a:spcBef>
              <a:defRPr sz="1500" b="1">
                <a:solidFill>
                  <a:srgbClr val="F8FAFC"/>
                </a:solidFill>
                <a:latin typeface="Arial"/>
              </a:defRPr>
            </a:pPr>
            <a:r>
              <a:t>Claude 3.5 on Amazon Bedrock</a:t>
            </a:r>
          </a:p>
          <a:p>
            <a:pPr>
              <a:spcBef>
                <a:spcPts val="300"/>
              </a:spcBef>
              <a:defRPr sz="1100">
                <a:solidFill>
                  <a:srgbClr val="94A3B8"/>
                </a:solidFill>
                <a:latin typeface="Arial"/>
              </a:defRPr>
            </a:pPr>
            <a:r>
              <a:t>Selected for zero-shot open-vocabulary recognition across occluded containers and varied grocery packaging without manual dataset labeling.</a:t>
            </a:r>
          </a:p>
          <a:p>
            <a:pPr>
              <a:spcBef>
                <a:spcPts val="800"/>
              </a:spcBef>
              <a:defRPr sz="1100" b="1">
                <a:solidFill>
                  <a:srgbClr val="38BDF8"/>
                </a:solidFill>
                <a:latin typeface="Arial"/>
              </a:defRPr>
            </a:pPr>
            <a:r>
              <a:t>⚡ Resilient: Bedrock ──► Anthropic direct failover in &lt; 2s.</a:t>
            </a:r>
          </a:p>
        </p:txBody>
      </p:sp>
      <p:sp>
        <p:nvSpPr>
          <p:cNvPr id="7" name="Rounded Rectangle 6"/>
          <p:cNvSpPr/>
          <p:nvPr/>
        </p:nvSpPr>
        <p:spPr>
          <a:xfrm>
            <a:off x="5440680" y="1600200"/>
            <a:ext cx="6035040" cy="3429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val_WhatsApp Image 2026-10-20 at 3.08.47 PM.jpeg"/>
          <p:cNvPicPr>
            <a:picLocks noChangeAspect="1"/>
          </p:cNvPicPr>
          <p:nvPr/>
        </p:nvPicPr>
        <p:blipFill>
          <a:blip r:embed="rId2"/>
          <a:stretch>
            <a:fillRect/>
          </a:stretch>
        </p:blipFill>
        <p:spPr>
          <a:xfrm>
            <a:off x="5532120" y="1691640"/>
            <a:ext cx="5852160" cy="3246120"/>
          </a:xfrm>
          <a:prstGeom prst="rect">
            <a:avLst/>
          </a:prstGeom>
        </p:spPr>
      </p:pic>
      <p:sp>
        <p:nvSpPr>
          <p:cNvPr id="9" name="Rounded Rectangle 8"/>
          <p:cNvSpPr/>
          <p:nvPr/>
        </p:nvSpPr>
        <p:spPr>
          <a:xfrm>
            <a:off x="5440680" y="5212080"/>
            <a:ext cx="1874519"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5376672"/>
            <a:ext cx="1874519" cy="960120"/>
          </a:xfrm>
          <a:prstGeom prst="rect">
            <a:avLst/>
          </a:prstGeom>
          <a:noFill/>
        </p:spPr>
        <p:txBody>
          <a:bodyPr wrap="square" lIns="0" tIns="0" rIns="0" bIns="0">
            <a:spAutoFit/>
          </a:bodyPr>
          <a:lstStyle/>
          <a:p>
            <a:pPr algn="ctr">
              <a:defRPr sz="2400" b="1">
                <a:solidFill>
                  <a:srgbClr val="34D399"/>
                </a:solidFill>
                <a:latin typeface="Arial"/>
              </a:defRPr>
            </a:pPr>
            <a:r>
              <a:t>80.0%</a:t>
            </a:r>
          </a:p>
          <a:p>
            <a:pPr algn="ctr">
              <a:spcBef>
                <a:spcPts val="300"/>
              </a:spcBef>
              <a:defRPr sz="850" b="1">
                <a:solidFill>
                  <a:srgbClr val="64748B"/>
                </a:solidFill>
                <a:latin typeface="Arial"/>
              </a:defRPr>
            </a:pPr>
            <a:r>
              <a:t>RECALL (IoU ≥ 0.5)</a:t>
            </a:r>
          </a:p>
        </p:txBody>
      </p:sp>
      <p:sp>
        <p:nvSpPr>
          <p:cNvPr id="11" name="Rounded Rectangle 10"/>
          <p:cNvSpPr/>
          <p:nvPr/>
        </p:nvSpPr>
        <p:spPr>
          <a:xfrm>
            <a:off x="7424927" y="5212080"/>
            <a:ext cx="1874519"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7" y="5376672"/>
            <a:ext cx="1874519" cy="960120"/>
          </a:xfrm>
          <a:prstGeom prst="rect">
            <a:avLst/>
          </a:prstGeom>
          <a:noFill/>
        </p:spPr>
        <p:txBody>
          <a:bodyPr wrap="square" lIns="0" tIns="0" rIns="0" bIns="0">
            <a:spAutoFit/>
          </a:bodyPr>
          <a:lstStyle/>
          <a:p>
            <a:pPr algn="ctr">
              <a:defRPr sz="2400" b="1">
                <a:solidFill>
                  <a:srgbClr val="F8FAFC"/>
                </a:solidFill>
                <a:latin typeface="Arial"/>
              </a:defRPr>
            </a:pPr>
            <a:r>
              <a:t>74.1%</a:t>
            </a:r>
          </a:p>
          <a:p>
            <a:pPr algn="ctr">
              <a:spcBef>
                <a:spcPts val="300"/>
              </a:spcBef>
              <a:defRPr sz="850" b="1">
                <a:solidFill>
                  <a:srgbClr val="64748B"/>
                </a:solidFill>
                <a:latin typeface="Arial"/>
              </a:defRPr>
            </a:pPr>
            <a:r>
              <a:t>F1 SCORE</a:t>
            </a:r>
          </a:p>
        </p:txBody>
      </p:sp>
      <p:sp>
        <p:nvSpPr>
          <p:cNvPr id="13" name="Rounded Rectangle 12"/>
          <p:cNvSpPr/>
          <p:nvPr/>
        </p:nvSpPr>
        <p:spPr>
          <a:xfrm>
            <a:off x="9409174" y="5212080"/>
            <a:ext cx="1874519"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09174" y="5376672"/>
            <a:ext cx="1874519" cy="960120"/>
          </a:xfrm>
          <a:prstGeom prst="rect">
            <a:avLst/>
          </a:prstGeom>
          <a:noFill/>
        </p:spPr>
        <p:txBody>
          <a:bodyPr wrap="square" lIns="0" tIns="0" rIns="0" bIns="0">
            <a:spAutoFit/>
          </a:bodyPr>
          <a:lstStyle/>
          <a:p>
            <a:pPr algn="ctr">
              <a:defRPr sz="2400" b="1">
                <a:solidFill>
                  <a:srgbClr val="38BDF8"/>
                </a:solidFill>
                <a:latin typeface="Arial"/>
              </a:defRPr>
            </a:pPr>
            <a:r>
              <a:t>100%</a:t>
            </a:r>
          </a:p>
          <a:p>
            <a:pPr algn="ctr">
              <a:spcBef>
                <a:spcPts val="300"/>
              </a:spcBef>
              <a:defRPr sz="850" b="1">
                <a:solidFill>
                  <a:srgbClr val="64748B"/>
                </a:solidFill>
                <a:latin typeface="Arial"/>
              </a:defRPr>
            </a:pPr>
            <a:r>
              <a:t>STAPLES PRECISION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lIns="0" tIns="0" rIns="0" bIns="0">
            <a:spAutoFit/>
          </a:bodyPr>
          <a:lstStyle/>
          <a:p>
            <a:pPr>
              <a:defRPr sz="1000" b="1">
                <a:solidFill>
                  <a:srgbClr val="38BDF8"/>
                </a:solidFill>
                <a:latin typeface="Arial"/>
              </a:defRPr>
            </a:pPr>
            <a:r>
              <a:t>EVALUATION BENCHMARK  //  MULTI-COMPARTMENT TEST</a:t>
            </a:r>
          </a:p>
          <a:p>
            <a:pPr>
              <a:spcBef>
                <a:spcPts val="400"/>
              </a:spcBef>
              <a:defRPr sz="2600" b="1">
                <a:solidFill>
                  <a:srgbClr val="F8FAFC"/>
                </a:solidFill>
                <a:latin typeface="Arial"/>
              </a:defRPr>
            </a:pPr>
            <a:r>
              <a:t>Multi-Compartment Bounding Box Verification</a:t>
            </a:r>
          </a:p>
        </p:txBody>
      </p:sp>
      <p:sp>
        <p:nvSpPr>
          <p:cNvPr id="4" name="Rounded Rectangle 3"/>
          <p:cNvSpPr/>
          <p:nvPr/>
        </p:nvSpPr>
        <p:spPr>
          <a:xfrm>
            <a:off x="731520" y="1645920"/>
            <a:ext cx="5212080" cy="329184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val_WhatsApp Image 2026-10-20 at 3.08.46 PM (3).jpeg"/>
          <p:cNvPicPr>
            <a:picLocks noChangeAspect="1"/>
          </p:cNvPicPr>
          <p:nvPr/>
        </p:nvPicPr>
        <p:blipFill>
          <a:blip r:embed="rId2"/>
          <a:stretch>
            <a:fillRect/>
          </a:stretch>
        </p:blipFill>
        <p:spPr>
          <a:xfrm>
            <a:off x="2240280" y="1783080"/>
            <a:ext cx="2194560" cy="3017520"/>
          </a:xfrm>
          <a:prstGeom prst="rect">
            <a:avLst/>
          </a:prstGeom>
        </p:spPr>
      </p:pic>
      <p:sp>
        <p:nvSpPr>
          <p:cNvPr id="6" name="TextBox 5"/>
          <p:cNvSpPr txBox="1"/>
          <p:nvPr/>
        </p:nvSpPr>
        <p:spPr>
          <a:xfrm>
            <a:off x="868680" y="1783080"/>
            <a:ext cx="2011680" cy="1371600"/>
          </a:xfrm>
          <a:prstGeom prst="rect">
            <a:avLst/>
          </a:prstGeom>
          <a:noFill/>
        </p:spPr>
        <p:txBody>
          <a:bodyPr wrap="square" lIns="0" tIns="0" rIns="0" bIns="0">
            <a:spAutoFit/>
          </a:bodyPr>
          <a:lstStyle/>
          <a:p>
            <a:pPr>
              <a:defRPr sz="1000" b="1">
                <a:solidFill>
                  <a:srgbClr val="34D399"/>
                </a:solidFill>
                <a:latin typeface="Arial"/>
              </a:defRPr>
            </a:pPr>
            <a:r>
              <a:t>DOOR BIN</a:t>
            </a:r>
          </a:p>
          <a:p>
            <a:pPr>
              <a:spcBef>
                <a:spcPts val="400"/>
              </a:spcBef>
              <a:defRPr sz="950">
                <a:solidFill>
                  <a:srgbClr val="94A3B8"/>
                </a:solidFill>
                <a:latin typeface="Arial"/>
              </a:defRPr>
            </a:pPr>
            <a:r>
              <a:t>8/8 Items Detected</a:t>
            </a:r>
            <a:br/>
            <a:r>
              <a:t>100% Precision</a:t>
            </a:r>
            <a:br/>
            <a:r>
              <a:t>100% Recall</a:t>
            </a:r>
            <a:br/>
            <a:r>
              <a:t>Tomatoes &amp; Citrus</a:t>
            </a:r>
          </a:p>
        </p:txBody>
      </p:sp>
      <p:sp>
        <p:nvSpPr>
          <p:cNvPr id="7" name="Rounded Rectangle 6"/>
          <p:cNvSpPr/>
          <p:nvPr/>
        </p:nvSpPr>
        <p:spPr>
          <a:xfrm>
            <a:off x="6217920" y="1645920"/>
            <a:ext cx="5212080" cy="329184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val_WhatsApp Image 2026-10-20 at 3.08.45 PM.jpeg"/>
          <p:cNvPicPr>
            <a:picLocks noChangeAspect="1"/>
          </p:cNvPicPr>
          <p:nvPr/>
        </p:nvPicPr>
        <p:blipFill>
          <a:blip r:embed="rId3"/>
          <a:stretch>
            <a:fillRect/>
          </a:stretch>
        </p:blipFill>
        <p:spPr>
          <a:xfrm>
            <a:off x="6309360" y="1783080"/>
            <a:ext cx="5029200" cy="3017520"/>
          </a:xfrm>
          <a:prstGeom prst="rect">
            <a:avLst/>
          </a:prstGeom>
        </p:spPr>
      </p:pic>
      <p:sp>
        <p:nvSpPr>
          <p:cNvPr id="9" name="Rounded Rectangle 8"/>
          <p:cNvSpPr/>
          <p:nvPr/>
        </p:nvSpPr>
        <p:spPr>
          <a:xfrm>
            <a:off x="731520" y="5212080"/>
            <a:ext cx="2542032"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376672"/>
            <a:ext cx="2542032" cy="960120"/>
          </a:xfrm>
          <a:prstGeom prst="rect">
            <a:avLst/>
          </a:prstGeom>
          <a:noFill/>
        </p:spPr>
        <p:txBody>
          <a:bodyPr wrap="square" lIns="0" tIns="0" rIns="0" bIns="0">
            <a:spAutoFit/>
          </a:bodyPr>
          <a:lstStyle/>
          <a:p>
            <a:pPr algn="ctr">
              <a:defRPr sz="2200" b="1">
                <a:solidFill>
                  <a:srgbClr val="34D399"/>
                </a:solidFill>
                <a:latin typeface="Arial"/>
              </a:defRPr>
            </a:pPr>
            <a:r>
              <a:t>87.5% - 100%</a:t>
            </a:r>
          </a:p>
          <a:p>
            <a:pPr algn="ctr">
              <a:spcBef>
                <a:spcPts val="300"/>
              </a:spcBef>
              <a:defRPr sz="850" b="1">
                <a:solidFill>
                  <a:srgbClr val="64748B"/>
                </a:solidFill>
                <a:latin typeface="Arial"/>
              </a:defRPr>
            </a:pPr>
            <a:r>
              <a:t>PRODUCE RECALL</a:t>
            </a:r>
          </a:p>
        </p:txBody>
      </p:sp>
      <p:sp>
        <p:nvSpPr>
          <p:cNvPr id="11" name="Rounded Rectangle 10"/>
          <p:cNvSpPr/>
          <p:nvPr/>
        </p:nvSpPr>
        <p:spPr>
          <a:xfrm>
            <a:off x="3456432" y="5212080"/>
            <a:ext cx="2542032"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6432" y="5376672"/>
            <a:ext cx="2542032" cy="960120"/>
          </a:xfrm>
          <a:prstGeom prst="rect">
            <a:avLst/>
          </a:prstGeom>
          <a:noFill/>
        </p:spPr>
        <p:txBody>
          <a:bodyPr wrap="square" lIns="0" tIns="0" rIns="0" bIns="0">
            <a:spAutoFit/>
          </a:bodyPr>
          <a:lstStyle/>
          <a:p>
            <a:pPr algn="ctr">
              <a:defRPr sz="2200" b="1">
                <a:solidFill>
                  <a:srgbClr val="38BDF8"/>
                </a:solidFill>
                <a:latin typeface="Arial"/>
              </a:defRPr>
            </a:pPr>
            <a:r>
              <a:t>0 Labels</a:t>
            </a:r>
          </a:p>
          <a:p>
            <a:pPr algn="ctr">
              <a:spcBef>
                <a:spcPts val="300"/>
              </a:spcBef>
              <a:defRPr sz="850" b="1">
                <a:solidFill>
                  <a:srgbClr val="64748B"/>
                </a:solidFill>
                <a:latin typeface="Arial"/>
              </a:defRPr>
            </a:pPr>
            <a:r>
              <a:t>ZERO-SHOT TRAINING</a:t>
            </a:r>
          </a:p>
        </p:txBody>
      </p:sp>
      <p:sp>
        <p:nvSpPr>
          <p:cNvPr id="13" name="Rounded Rectangle 12"/>
          <p:cNvSpPr/>
          <p:nvPr/>
        </p:nvSpPr>
        <p:spPr>
          <a:xfrm>
            <a:off x="6181344" y="5212080"/>
            <a:ext cx="2542032"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5376672"/>
            <a:ext cx="2542032" cy="960120"/>
          </a:xfrm>
          <a:prstGeom prst="rect">
            <a:avLst/>
          </a:prstGeom>
          <a:noFill/>
        </p:spPr>
        <p:txBody>
          <a:bodyPr wrap="square" lIns="0" tIns="0" rIns="0" bIns="0">
            <a:spAutoFit/>
          </a:bodyPr>
          <a:lstStyle/>
          <a:p>
            <a:pPr algn="ctr">
              <a:defRPr sz="2200" b="1">
                <a:solidFill>
                  <a:srgbClr val="FB923C"/>
                </a:solidFill>
                <a:latin typeface="Arial"/>
              </a:defRPr>
            </a:pPr>
            <a:r>
              <a:t>&lt; 1.5s</a:t>
            </a:r>
          </a:p>
          <a:p>
            <a:pPr algn="ctr">
              <a:spcBef>
                <a:spcPts val="300"/>
              </a:spcBef>
              <a:defRPr sz="850" b="1">
                <a:solidFill>
                  <a:srgbClr val="64748B"/>
                </a:solidFill>
                <a:latin typeface="Arial"/>
              </a:defRPr>
            </a:pPr>
            <a:r>
              <a:t>INFERENCE LATENCY</a:t>
            </a:r>
          </a:p>
        </p:txBody>
      </p:sp>
      <p:sp>
        <p:nvSpPr>
          <p:cNvPr id="15" name="Rounded Rectangle 14"/>
          <p:cNvSpPr/>
          <p:nvPr/>
        </p:nvSpPr>
        <p:spPr>
          <a:xfrm>
            <a:off x="8906256" y="5212080"/>
            <a:ext cx="2542032" cy="1143000"/>
          </a:xfrm>
          <a:prstGeom prst="roundRect">
            <a:avLst/>
          </a:prstGeom>
          <a:solidFill>
            <a:srgbClr val="121826"/>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06256" y="5376672"/>
            <a:ext cx="2542032" cy="960120"/>
          </a:xfrm>
          <a:prstGeom prst="rect">
            <a:avLst/>
          </a:prstGeom>
          <a:noFill/>
        </p:spPr>
        <p:txBody>
          <a:bodyPr wrap="square" lIns="0" tIns="0" rIns="0" bIns="0">
            <a:spAutoFit/>
          </a:bodyPr>
          <a:lstStyle/>
          <a:p>
            <a:pPr algn="ctr">
              <a:defRPr sz="2200" b="1">
                <a:solidFill>
                  <a:srgbClr val="F8FAFC"/>
                </a:solidFill>
                <a:latin typeface="Arial"/>
              </a:defRPr>
            </a:pPr>
            <a:r>
              <a:t>Dual-Cloud</a:t>
            </a:r>
          </a:p>
          <a:p>
            <a:pPr algn="ctr">
              <a:spcBef>
                <a:spcPts val="300"/>
              </a:spcBef>
              <a:defRPr sz="850" b="1">
                <a:solidFill>
                  <a:srgbClr val="64748B"/>
                </a:solidFill>
                <a:latin typeface="Arial"/>
              </a:defRPr>
            </a:pPr>
            <a:r>
              <a:t>BEDROCK + DIRECT FAILOVER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ALEXA+ SIMULATOR  //  PART 1</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How the assistant talks to the fridge</a:t>
            </a:r>
            <a:endParaRPr lang="en-US" sz="3000" dirty="0"/>
          </a:p>
        </p:txBody>
      </p:sp>
      <p:sp>
        <p:nvSpPr>
          <p:cNvPr id="5" name="Icon 1 circle"/>
          <p:cNvSpPr/>
          <p:nvPr/>
        </p:nvSpPr>
        <p:spPr>
          <a:xfrm>
            <a:off x="731520" y="1828800"/>
            <a:ext cx="777240" cy="777240"/>
          </a:xfrm>
          <a:prstGeom prst="ellipse">
            <a:avLst/>
          </a:prstGeom>
          <a:solidFill>
            <a:srgbClr val="121826"/>
          </a:solidFill>
          <a:ln w="19050">
            <a:solidFill>
              <a:srgbClr val="38BDF8"/>
            </a:solidFill>
            <a:prstDash val="solid"/>
          </a:ln>
        </p:spPr>
      </p:sp>
      <p:pic>
        <p:nvPicPr>
          <p:cNvPr id="6" name="Icon 1" descr="preencoded.png">    </p:cNvPr>
          <p:cNvPicPr>
            <a:picLocks noChangeAspect="1"/>
          </p:cNvPicPr>
          <p:nvPr/>
        </p:nvPicPr>
        <p:blipFill>
          <a:blip r:embed="rId2"/>
          <a:stretch>
            <a:fillRect/>
          </a:stretch>
        </p:blipFill>
        <p:spPr>
          <a:xfrm>
            <a:off x="941375" y="2038655"/>
            <a:ext cx="357530" cy="357530"/>
          </a:xfrm>
          <a:prstGeom prst="rect">
            <a:avLst/>
          </a:prstGeom>
        </p:spPr>
      </p:pic>
      <p:sp>
        <p:nvSpPr>
          <p:cNvPr id="7" name="Row text 1"/>
          <p:cNvSpPr txBox="1"/>
          <p:nvPr/>
        </p:nvSpPr>
        <p:spPr>
          <a:xfrm>
            <a:off x="1783080" y="1737360"/>
            <a:ext cx="5394960" cy="96012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A web UI with an LLM agent</a:t>
            </a:r>
            <a:endParaRPr lang="en-US" sz="2000" dirty="0"/>
          </a:p>
          <a:p>
            <a:pPr indent="0" marL="0">
              <a:buNone/>
            </a:pPr>
            <a:r>
              <a:rPr lang="en-US" sz="1500" dirty="0">
                <a:solidFill>
                  <a:srgbClr val="94A3B8"/>
                </a:solidFill>
                <a:latin typeface="Arial" pitchFamily="34" charset="0"/>
                <a:ea typeface="Arial" pitchFamily="34" charset="-122"/>
                <a:cs typeface="Arial" pitchFamily="34" charset="-120"/>
              </a:rPr>
              <a:t>You ask a question; the agent decides which tools to call.</a:t>
            </a:r>
            <a:endParaRPr lang="en-US" sz="2000" dirty="0"/>
          </a:p>
        </p:txBody>
      </p:sp>
      <p:sp>
        <p:nvSpPr>
          <p:cNvPr id="8" name="Icon 2 circle"/>
          <p:cNvSpPr/>
          <p:nvPr/>
        </p:nvSpPr>
        <p:spPr>
          <a:xfrm>
            <a:off x="731520" y="3246120"/>
            <a:ext cx="777240" cy="777240"/>
          </a:xfrm>
          <a:prstGeom prst="ellipse">
            <a:avLst/>
          </a:prstGeom>
          <a:solidFill>
            <a:srgbClr val="121826"/>
          </a:solidFill>
          <a:ln w="19050">
            <a:solidFill>
              <a:srgbClr val="34D399"/>
            </a:solidFill>
            <a:prstDash val="solid"/>
          </a:ln>
        </p:spPr>
      </p:sp>
      <p:pic>
        <p:nvPicPr>
          <p:cNvPr id="9" name="Icon 2" descr="preencoded.png">    </p:cNvPr>
          <p:cNvPicPr>
            <a:picLocks noChangeAspect="1"/>
          </p:cNvPicPr>
          <p:nvPr/>
        </p:nvPicPr>
        <p:blipFill>
          <a:blip r:embed="rId3"/>
          <a:stretch>
            <a:fillRect/>
          </a:stretch>
        </p:blipFill>
        <p:spPr>
          <a:xfrm>
            <a:off x="941375" y="3455975"/>
            <a:ext cx="357530" cy="357530"/>
          </a:xfrm>
          <a:prstGeom prst="rect">
            <a:avLst/>
          </a:prstGeom>
        </p:spPr>
      </p:pic>
      <p:sp>
        <p:nvSpPr>
          <p:cNvPr id="10" name="Row text 2"/>
          <p:cNvSpPr txBox="1"/>
          <p:nvPr/>
        </p:nvSpPr>
        <p:spPr>
          <a:xfrm>
            <a:off x="1783080" y="3154680"/>
            <a:ext cx="5394960" cy="96012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Acts as an MCP client</a:t>
            </a:r>
            <a:endParaRPr lang="en-US" sz="2000" dirty="0"/>
          </a:p>
          <a:p>
            <a:pPr indent="0" marL="0">
              <a:buNone/>
            </a:pPr>
            <a:r>
              <a:rPr lang="en-US" sz="1500" dirty="0">
                <a:solidFill>
                  <a:srgbClr val="94A3B8"/>
                </a:solidFill>
                <a:latin typeface="Arial" pitchFamily="34" charset="0"/>
                <a:ea typeface="Arial" pitchFamily="34" charset="-122"/>
                <a:cs typeface="Arial" pitchFamily="34" charset="-120"/>
              </a:rPr>
              <a:t>Discovers the server's tools at deploy, then calls them like Alexa+ would.</a:t>
            </a:r>
            <a:endParaRPr lang="en-US" sz="2000" dirty="0"/>
          </a:p>
        </p:txBody>
      </p:sp>
      <p:sp>
        <p:nvSpPr>
          <p:cNvPr id="11" name="Icon 3 circle"/>
          <p:cNvSpPr/>
          <p:nvPr/>
        </p:nvSpPr>
        <p:spPr>
          <a:xfrm>
            <a:off x="731520" y="4663440"/>
            <a:ext cx="777240" cy="777240"/>
          </a:xfrm>
          <a:prstGeom prst="ellipse">
            <a:avLst/>
          </a:prstGeom>
          <a:solidFill>
            <a:srgbClr val="121826"/>
          </a:solidFill>
          <a:ln w="19050">
            <a:solidFill>
              <a:srgbClr val="FB923C"/>
            </a:solidFill>
            <a:prstDash val="solid"/>
          </a:ln>
        </p:spPr>
      </p:sp>
      <p:pic>
        <p:nvPicPr>
          <p:cNvPr id="12" name="Icon 3" descr="preencoded.png">    </p:cNvPr>
          <p:cNvPicPr>
            <a:picLocks noChangeAspect="1"/>
          </p:cNvPicPr>
          <p:nvPr/>
        </p:nvPicPr>
        <p:blipFill>
          <a:blip r:embed="rId4"/>
          <a:stretch>
            <a:fillRect/>
          </a:stretch>
        </p:blipFill>
        <p:spPr>
          <a:xfrm>
            <a:off x="941375" y="4873295"/>
            <a:ext cx="357530" cy="357530"/>
          </a:xfrm>
          <a:prstGeom prst="rect">
            <a:avLst/>
          </a:prstGeom>
        </p:spPr>
      </p:pic>
      <p:sp>
        <p:nvSpPr>
          <p:cNvPr id="13" name="Row text 3"/>
          <p:cNvSpPr txBox="1"/>
          <p:nvPr/>
        </p:nvSpPr>
        <p:spPr>
          <a:xfrm>
            <a:off x="1783080" y="4572000"/>
            <a:ext cx="5394960" cy="96012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Every call is traced</a:t>
            </a:r>
            <a:endParaRPr lang="en-US" sz="2000" dirty="0"/>
          </a:p>
          <a:p>
            <a:pPr indent="0" marL="0">
              <a:buNone/>
            </a:pPr>
            <a:r>
              <a:rPr lang="en-US" sz="1500" dirty="0">
                <a:solidFill>
                  <a:srgbClr val="94A3B8"/>
                </a:solidFill>
                <a:latin typeface="Arial" pitchFamily="34" charset="0"/>
                <a:ea typeface="Arial" pitchFamily="34" charset="-122"/>
                <a:cs typeface="Arial" pitchFamily="34" charset="-120"/>
              </a:rPr>
              <a:t>The trace shows each tool call with its timing and flags anything over 500 ms.</a:t>
            </a:r>
            <a:endParaRPr lang="en-US" sz="2000" dirty="0"/>
          </a:p>
        </p:txBody>
      </p:sp>
      <p:sp>
        <p:nvSpPr>
          <p:cNvPr id="14" name="Stat tools card"/>
          <p:cNvSpPr/>
          <p:nvPr/>
        </p:nvSpPr>
        <p:spPr>
          <a:xfrm>
            <a:off x="7772400" y="1828800"/>
            <a:ext cx="3657600" cy="1828800"/>
          </a:xfrm>
          <a:prstGeom prst="roundRect">
            <a:avLst>
              <a:gd name="adj" fmla="val 6000"/>
            </a:avLst>
          </a:prstGeom>
          <a:solidFill>
            <a:srgbClr val="121826"/>
          </a:solidFill>
          <a:ln w="12700">
            <a:solidFill>
              <a:srgbClr val="263044"/>
            </a:solidFill>
            <a:prstDash val="solid"/>
          </a:ln>
        </p:spPr>
      </p:sp>
      <p:sp>
        <p:nvSpPr>
          <p:cNvPr id="15" name="Stat tools number"/>
          <p:cNvSpPr txBox="1"/>
          <p:nvPr/>
        </p:nvSpPr>
        <p:spPr>
          <a:xfrm>
            <a:off x="7772400" y="2011680"/>
            <a:ext cx="3657600" cy="868680"/>
          </a:xfrm>
          <a:prstGeom prst="rect">
            <a:avLst/>
          </a:prstGeom>
          <a:noFill/>
          <a:ln/>
        </p:spPr>
        <p:txBody>
          <a:bodyPr wrap="square" lIns="0" tIns="0" rIns="0" bIns="0" rtlCol="0" anchor="ctr"/>
          <a:lstStyle/>
          <a:p>
            <a:pPr algn="ctr" indent="0" marL="0">
              <a:buNone/>
            </a:pPr>
            <a:r>
              <a:rPr lang="en-US" sz="4800" b="1" dirty="0">
                <a:solidFill>
                  <a:srgbClr val="34D399"/>
                </a:solidFill>
                <a:latin typeface="Arial" pitchFamily="34" charset="0"/>
                <a:ea typeface="Arial" pitchFamily="34" charset="-122"/>
                <a:cs typeface="Arial" pitchFamily="34" charset="-120"/>
              </a:rPr>
              <a:t>11</a:t>
            </a:r>
            <a:endParaRPr lang="en-US" sz="4800" dirty="0"/>
          </a:p>
        </p:txBody>
      </p:sp>
      <p:sp>
        <p:nvSpPr>
          <p:cNvPr id="16" name="Stat tools label"/>
          <p:cNvSpPr txBox="1"/>
          <p:nvPr/>
        </p:nvSpPr>
        <p:spPr>
          <a:xfrm>
            <a:off x="7772400" y="2926080"/>
            <a:ext cx="3657600" cy="548640"/>
          </a:xfrm>
          <a:prstGeom prst="rect">
            <a:avLst/>
          </a:prstGeom>
          <a:noFill/>
          <a:ln/>
        </p:spPr>
        <p:txBody>
          <a:bodyPr wrap="square" lIns="0" tIns="0" rIns="0" bIns="0" rtlCol="0" anchor="t"/>
          <a:lstStyle/>
          <a:p>
            <a:pPr algn="ctr" indent="0" marL="0">
              <a:buNone/>
            </a:pPr>
            <a:r>
              <a:rPr lang="en-US" sz="1300" b="1" dirty="0">
                <a:solidFill>
                  <a:srgbClr val="64748B"/>
                </a:solidFill>
                <a:latin typeface="Arial" pitchFamily="34" charset="0"/>
                <a:ea typeface="Arial" pitchFamily="34" charset="-122"/>
                <a:cs typeface="Arial" pitchFamily="34" charset="-120"/>
              </a:rPr>
              <a:t>TOOLS DISCOVERED FROM THE SERVER</a:t>
            </a:r>
            <a:endParaRPr lang="en-US" sz="1300" dirty="0"/>
          </a:p>
        </p:txBody>
      </p:sp>
      <p:sp>
        <p:nvSpPr>
          <p:cNvPr id="17" name="Stat latency card"/>
          <p:cNvSpPr/>
          <p:nvPr/>
        </p:nvSpPr>
        <p:spPr>
          <a:xfrm>
            <a:off x="7772400" y="3931920"/>
            <a:ext cx="3657600" cy="1828800"/>
          </a:xfrm>
          <a:prstGeom prst="roundRect">
            <a:avLst>
              <a:gd name="adj" fmla="val 6000"/>
            </a:avLst>
          </a:prstGeom>
          <a:solidFill>
            <a:srgbClr val="121826"/>
          </a:solidFill>
          <a:ln w="12700">
            <a:solidFill>
              <a:srgbClr val="263044"/>
            </a:solidFill>
            <a:prstDash val="solid"/>
          </a:ln>
        </p:spPr>
      </p:sp>
      <p:sp>
        <p:nvSpPr>
          <p:cNvPr id="18" name="Stat latency number"/>
          <p:cNvSpPr txBox="1"/>
          <p:nvPr/>
        </p:nvSpPr>
        <p:spPr>
          <a:xfrm>
            <a:off x="7772400" y="4114800"/>
            <a:ext cx="3657600" cy="868680"/>
          </a:xfrm>
          <a:prstGeom prst="rect">
            <a:avLst/>
          </a:prstGeom>
          <a:noFill/>
          <a:ln/>
        </p:spPr>
        <p:txBody>
          <a:bodyPr wrap="square" lIns="0" tIns="0" rIns="0" bIns="0" rtlCol="0" anchor="ctr"/>
          <a:lstStyle/>
          <a:p>
            <a:pPr algn="ctr" indent="0" marL="0">
              <a:buNone/>
            </a:pPr>
            <a:r>
              <a:rPr lang="en-US" sz="4800" b="1" dirty="0">
                <a:solidFill>
                  <a:srgbClr val="FB923C"/>
                </a:solidFill>
                <a:latin typeface="Arial" pitchFamily="34" charset="0"/>
                <a:ea typeface="Arial" pitchFamily="34" charset="-122"/>
                <a:cs typeface="Arial" pitchFamily="34" charset="-120"/>
              </a:rPr>
              <a:t>500 ms</a:t>
            </a:r>
            <a:endParaRPr lang="en-US" sz="4800" dirty="0"/>
          </a:p>
        </p:txBody>
      </p:sp>
      <p:sp>
        <p:nvSpPr>
          <p:cNvPr id="19" name="Stat latency label"/>
          <p:cNvSpPr txBox="1"/>
          <p:nvPr/>
        </p:nvSpPr>
        <p:spPr>
          <a:xfrm>
            <a:off x="7772400" y="5029200"/>
            <a:ext cx="3657600" cy="548640"/>
          </a:xfrm>
          <a:prstGeom prst="rect">
            <a:avLst/>
          </a:prstGeom>
          <a:noFill/>
          <a:ln/>
        </p:spPr>
        <p:txBody>
          <a:bodyPr wrap="square" lIns="0" tIns="0" rIns="0" bIns="0" rtlCol="0" anchor="t"/>
          <a:lstStyle/>
          <a:p>
            <a:pPr algn="ctr" indent="0" marL="0">
              <a:buNone/>
            </a:pPr>
            <a:r>
              <a:rPr lang="en-US" sz="1300" b="1" dirty="0">
                <a:solidFill>
                  <a:srgbClr val="64748B"/>
                </a:solidFill>
                <a:latin typeface="Arial" pitchFamily="34" charset="0"/>
                <a:ea typeface="Arial" pitchFamily="34" charset="-122"/>
                <a:cs typeface="Arial" pitchFamily="34" charset="-120"/>
              </a:rPr>
              <a:t>LATENCY BUDGET PER TOOL CALL</a:t>
            </a:r>
            <a:endParaRPr lang="en-US" sz="13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MCP SERVER  //  PART 2</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11 tools, one server</a:t>
            </a:r>
            <a:endParaRPr lang="en-US" sz="3000" dirty="0"/>
          </a:p>
        </p:txBody>
      </p:sp>
      <p:sp>
        <p:nvSpPr>
          <p:cNvPr id="5" name="Fridge card"/>
          <p:cNvSpPr/>
          <p:nvPr/>
        </p:nvSpPr>
        <p:spPr>
          <a:xfrm>
            <a:off x="731520" y="1828800"/>
            <a:ext cx="3429000" cy="3017520"/>
          </a:xfrm>
          <a:prstGeom prst="roundRect">
            <a:avLst>
              <a:gd name="adj" fmla="val 3636"/>
            </a:avLst>
          </a:prstGeom>
          <a:solidFill>
            <a:srgbClr val="121826"/>
          </a:solidFill>
          <a:ln w="12700">
            <a:solidFill>
              <a:srgbClr val="263044"/>
            </a:solidFill>
            <a:prstDash val="solid"/>
          </a:ln>
        </p:spPr>
      </p:sp>
      <p:sp>
        <p:nvSpPr>
          <p:cNvPr id="6" name="Fridge icon circle"/>
          <p:cNvSpPr/>
          <p:nvPr/>
        </p:nvSpPr>
        <p:spPr>
          <a:xfrm>
            <a:off x="1005840" y="2103120"/>
            <a:ext cx="640080" cy="640080"/>
          </a:xfrm>
          <a:prstGeom prst="ellipse">
            <a:avLst/>
          </a:prstGeom>
          <a:solidFill>
            <a:srgbClr val="121826"/>
          </a:solidFill>
          <a:ln w="19050">
            <a:solidFill>
              <a:srgbClr val="38BDF8"/>
            </a:solidFill>
            <a:prstDash val="solid"/>
          </a:ln>
        </p:spPr>
      </p:sp>
      <p:pic>
        <p:nvPicPr>
          <p:cNvPr id="7" name="Fridge icon" descr="preencoded.png">    </p:cNvPr>
          <p:cNvPicPr>
            <a:picLocks noChangeAspect="1"/>
          </p:cNvPicPr>
          <p:nvPr/>
        </p:nvPicPr>
        <p:blipFill>
          <a:blip r:embed="rId2"/>
          <a:stretch>
            <a:fillRect/>
          </a:stretch>
        </p:blipFill>
        <p:spPr>
          <a:xfrm>
            <a:off x="1178662" y="2275942"/>
            <a:ext cx="294437" cy="294437"/>
          </a:xfrm>
          <a:prstGeom prst="rect">
            <a:avLst/>
          </a:prstGeom>
        </p:spPr>
      </p:pic>
      <p:sp>
        <p:nvSpPr>
          <p:cNvPr id="8" name="Fridge heading"/>
          <p:cNvSpPr txBox="1"/>
          <p:nvPr/>
        </p:nvSpPr>
        <p:spPr>
          <a:xfrm>
            <a:off x="1828800" y="2103120"/>
            <a:ext cx="2194560" cy="64008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Fridge  (5)</a:t>
            </a:r>
            <a:endParaRPr lang="en-US" sz="2000" dirty="0"/>
          </a:p>
        </p:txBody>
      </p:sp>
      <p:sp>
        <p:nvSpPr>
          <p:cNvPr id="9" name="Fridge tools"/>
          <p:cNvSpPr txBox="1"/>
          <p:nvPr/>
        </p:nvSpPr>
        <p:spPr>
          <a:xfrm>
            <a:off x="1005840" y="3017520"/>
            <a:ext cx="3017520" cy="1645920"/>
          </a:xfrm>
          <a:prstGeom prst="rect">
            <a:avLst/>
          </a:prstGeom>
          <a:noFill/>
          <a:ln/>
        </p:spPr>
        <p:txBody>
          <a:bodyPr wrap="square" lIns="0" tIns="0" rIns="0" bIns="0" rtlCol="0" anchor="t"/>
          <a:lstStyle/>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get_fridge_inventory</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check_item</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get_expiring_items</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correct_fridge_items</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get_system_status</a:t>
            </a:r>
            <a:endParaRPr lang="en-US" sz="1300" dirty="0"/>
          </a:p>
        </p:txBody>
      </p:sp>
      <p:sp>
        <p:nvSpPr>
          <p:cNvPr id="10" name="Dishes card"/>
          <p:cNvSpPr/>
          <p:nvPr/>
        </p:nvSpPr>
        <p:spPr>
          <a:xfrm>
            <a:off x="4379976" y="1828800"/>
            <a:ext cx="3429000" cy="3017520"/>
          </a:xfrm>
          <a:prstGeom prst="roundRect">
            <a:avLst>
              <a:gd name="adj" fmla="val 3636"/>
            </a:avLst>
          </a:prstGeom>
          <a:solidFill>
            <a:srgbClr val="121826"/>
          </a:solidFill>
          <a:ln w="12700">
            <a:solidFill>
              <a:srgbClr val="263044"/>
            </a:solidFill>
            <a:prstDash val="solid"/>
          </a:ln>
        </p:spPr>
      </p:sp>
      <p:sp>
        <p:nvSpPr>
          <p:cNvPr id="11" name="Dishes icon circle"/>
          <p:cNvSpPr/>
          <p:nvPr/>
        </p:nvSpPr>
        <p:spPr>
          <a:xfrm>
            <a:off x="4654296" y="2103120"/>
            <a:ext cx="640080" cy="640080"/>
          </a:xfrm>
          <a:prstGeom prst="ellipse">
            <a:avLst/>
          </a:prstGeom>
          <a:solidFill>
            <a:srgbClr val="121826"/>
          </a:solidFill>
          <a:ln w="19050">
            <a:solidFill>
              <a:srgbClr val="34D399"/>
            </a:solidFill>
            <a:prstDash val="solid"/>
          </a:ln>
        </p:spPr>
      </p:sp>
      <p:pic>
        <p:nvPicPr>
          <p:cNvPr id="12" name="Dishes icon" descr="preencoded.png">    </p:cNvPr>
          <p:cNvPicPr>
            <a:picLocks noChangeAspect="1"/>
          </p:cNvPicPr>
          <p:nvPr/>
        </p:nvPicPr>
        <p:blipFill>
          <a:blip r:embed="rId3"/>
          <a:stretch>
            <a:fillRect/>
          </a:stretch>
        </p:blipFill>
        <p:spPr>
          <a:xfrm>
            <a:off x="4827118" y="2275942"/>
            <a:ext cx="294437" cy="294437"/>
          </a:xfrm>
          <a:prstGeom prst="rect">
            <a:avLst/>
          </a:prstGeom>
        </p:spPr>
      </p:pic>
      <p:sp>
        <p:nvSpPr>
          <p:cNvPr id="13" name="Dishes heading"/>
          <p:cNvSpPr txBox="1"/>
          <p:nvPr/>
        </p:nvSpPr>
        <p:spPr>
          <a:xfrm>
            <a:off x="5477256" y="2103120"/>
            <a:ext cx="2194560" cy="64008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Dishes  (3)</a:t>
            </a:r>
            <a:endParaRPr lang="en-US" sz="2000" dirty="0"/>
          </a:p>
        </p:txBody>
      </p:sp>
      <p:sp>
        <p:nvSpPr>
          <p:cNvPr id="14" name="Dishes tools"/>
          <p:cNvSpPr txBox="1"/>
          <p:nvPr/>
        </p:nvSpPr>
        <p:spPr>
          <a:xfrm>
            <a:off x="4654296" y="3017520"/>
            <a:ext cx="3017520" cy="1645920"/>
          </a:xfrm>
          <a:prstGeom prst="rect">
            <a:avLst/>
          </a:prstGeom>
          <a:noFill/>
          <a:ln/>
        </p:spPr>
        <p:txBody>
          <a:bodyPr wrap="square" lIns="0" tIns="0" rIns="0" bIns="0" rtlCol="0" anchor="t"/>
          <a:lstStyle/>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suggest_recipes</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get_recipe_steps</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search_online_recipes</a:t>
            </a:r>
            <a:endParaRPr lang="en-US" sz="1300" dirty="0"/>
          </a:p>
        </p:txBody>
      </p:sp>
      <p:sp>
        <p:nvSpPr>
          <p:cNvPr id="15" name="Shopping card"/>
          <p:cNvSpPr/>
          <p:nvPr/>
        </p:nvSpPr>
        <p:spPr>
          <a:xfrm>
            <a:off x="8028432" y="1828800"/>
            <a:ext cx="3429000" cy="3017520"/>
          </a:xfrm>
          <a:prstGeom prst="roundRect">
            <a:avLst>
              <a:gd name="adj" fmla="val 3636"/>
            </a:avLst>
          </a:prstGeom>
          <a:solidFill>
            <a:srgbClr val="121826"/>
          </a:solidFill>
          <a:ln w="12700">
            <a:solidFill>
              <a:srgbClr val="263044"/>
            </a:solidFill>
            <a:prstDash val="solid"/>
          </a:ln>
        </p:spPr>
      </p:sp>
      <p:sp>
        <p:nvSpPr>
          <p:cNvPr id="16" name="Shopping icon circle"/>
          <p:cNvSpPr/>
          <p:nvPr/>
        </p:nvSpPr>
        <p:spPr>
          <a:xfrm>
            <a:off x="8302752" y="2103120"/>
            <a:ext cx="640080" cy="640080"/>
          </a:xfrm>
          <a:prstGeom prst="ellipse">
            <a:avLst/>
          </a:prstGeom>
          <a:solidFill>
            <a:srgbClr val="121826"/>
          </a:solidFill>
          <a:ln w="19050">
            <a:solidFill>
              <a:srgbClr val="FB923C"/>
            </a:solidFill>
            <a:prstDash val="solid"/>
          </a:ln>
        </p:spPr>
      </p:sp>
      <p:pic>
        <p:nvPicPr>
          <p:cNvPr id="17" name="Shopping icon" descr="preencoded.png">    </p:cNvPr>
          <p:cNvPicPr>
            <a:picLocks noChangeAspect="1"/>
          </p:cNvPicPr>
          <p:nvPr/>
        </p:nvPicPr>
        <p:blipFill>
          <a:blip r:embed="rId4"/>
          <a:stretch>
            <a:fillRect/>
          </a:stretch>
        </p:blipFill>
        <p:spPr>
          <a:xfrm>
            <a:off x="8475574" y="2275942"/>
            <a:ext cx="294437" cy="294437"/>
          </a:xfrm>
          <a:prstGeom prst="rect">
            <a:avLst/>
          </a:prstGeom>
        </p:spPr>
      </p:pic>
      <p:sp>
        <p:nvSpPr>
          <p:cNvPr id="18" name="Shopping heading"/>
          <p:cNvSpPr txBox="1"/>
          <p:nvPr/>
        </p:nvSpPr>
        <p:spPr>
          <a:xfrm>
            <a:off x="9125712" y="2103120"/>
            <a:ext cx="2194560" cy="640080"/>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Shopping  (3)</a:t>
            </a:r>
            <a:endParaRPr lang="en-US" sz="2000" dirty="0"/>
          </a:p>
        </p:txBody>
      </p:sp>
      <p:sp>
        <p:nvSpPr>
          <p:cNvPr id="19" name="Shopping tools"/>
          <p:cNvSpPr txBox="1"/>
          <p:nvPr/>
        </p:nvSpPr>
        <p:spPr>
          <a:xfrm>
            <a:off x="8302752" y="3017520"/>
            <a:ext cx="3017520" cy="1645920"/>
          </a:xfrm>
          <a:prstGeom prst="rect">
            <a:avLst/>
          </a:prstGeom>
          <a:noFill/>
          <a:ln/>
        </p:spPr>
        <p:txBody>
          <a:bodyPr wrap="square" lIns="0" tIns="0" rIns="0" bIns="0" rtlCol="0" anchor="t"/>
          <a:lstStyle/>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add_to_shopping_list</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get_shopping_list</a:t>
            </a:r>
            <a:endParaRPr lang="en-US" sz="1300" dirty="0"/>
          </a:p>
          <a:p>
            <a:pPr indent="0" marL="0">
              <a:spcAft>
                <a:spcPts val="500"/>
              </a:spcAft>
              <a:buNone/>
            </a:pPr>
            <a:r>
              <a:rPr lang="en-US" sz="1300" dirty="0">
                <a:solidFill>
                  <a:srgbClr val="94A3B8"/>
                </a:solidFill>
                <a:latin typeface="Consolas" pitchFamily="34" charset="0"/>
                <a:ea typeface="Consolas" pitchFamily="34" charset="-122"/>
                <a:cs typeface="Consolas" pitchFamily="34" charset="-120"/>
              </a:rPr>
              <a:t>remove_from_shopping_list</a:t>
            </a:r>
            <a:endParaRPr lang="en-US" sz="1300" dirty="0"/>
          </a:p>
        </p:txBody>
      </p:sp>
      <p:sp>
        <p:nvSpPr>
          <p:cNvPr id="20" name="Footnote"/>
          <p:cNvSpPr txBox="1"/>
          <p:nvPr/>
        </p:nvSpPr>
        <p:spPr>
          <a:xfrm>
            <a:off x="731520" y="5257800"/>
            <a:ext cx="10698480" cy="822960"/>
          </a:xfrm>
          <a:prstGeom prst="rect">
            <a:avLst/>
          </a:prstGeom>
          <a:noFill/>
          <a:ln/>
        </p:spPr>
        <p:txBody>
          <a:bodyPr wrap="square" lIns="0" tIns="0" rIns="0" bIns="0" rtlCol="0" anchor="ctr"/>
          <a:lstStyle/>
          <a:p>
            <a:pPr indent="0" marL="0">
              <a:buNone/>
            </a:pPr>
            <a:r>
              <a:rPr lang="en-US" sz="1600" b="1" dirty="0">
                <a:solidFill>
                  <a:srgbClr val="34D399"/>
                </a:solidFill>
                <a:latin typeface="Arial" pitchFamily="34" charset="0"/>
                <a:ea typeface="Arial" pitchFamily="34" charset="-122"/>
                <a:cs typeface="Arial" pitchFamily="34" charset="-120"/>
              </a:rPr>
              <a:t>Built to stay fast and honest  </a:t>
            </a:r>
            <a:pPr indent="0" marL="0">
              <a:buNone/>
            </a:pPr>
            <a:r>
              <a:rPr lang="en-US" sz="1600" dirty="0">
                <a:solidFill>
                  <a:srgbClr val="94A3B8"/>
                </a:solidFill>
                <a:latin typeface="Arial" pitchFamily="34" charset="0"/>
                <a:ea typeface="Arial" pitchFamily="34" charset="-122"/>
                <a:cs typeface="Arial" pitchFamily="34" charset="-120"/>
              </a:rPr>
              <a:t>Answers come from a cache that refreshes in the background. If the camera is down it says so, instead of claiming the fridge is empty.</a:t>
            </a:r>
            <a:endParaRPr lang="en-US" sz="16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DISH AGENT  //  PART 3</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Dinner ideas that use up what's expiring</a:t>
            </a:r>
            <a:endParaRPr lang="en-US" sz="3000" dirty="0"/>
          </a:p>
        </p:txBody>
      </p:sp>
      <p:sp>
        <p:nvSpPr>
          <p:cNvPr id="5" name="Input card"/>
          <p:cNvSpPr/>
          <p:nvPr/>
        </p:nvSpPr>
        <p:spPr>
          <a:xfrm>
            <a:off x="731520" y="1828800"/>
            <a:ext cx="3291840" cy="2011680"/>
          </a:xfrm>
          <a:prstGeom prst="roundRect">
            <a:avLst>
              <a:gd name="adj" fmla="val 5455"/>
            </a:avLst>
          </a:prstGeom>
          <a:solidFill>
            <a:srgbClr val="121826"/>
          </a:solidFill>
          <a:ln w="19050">
            <a:solidFill>
              <a:srgbClr val="38BDF8"/>
            </a:solidFill>
            <a:prstDash val="solid"/>
          </a:ln>
        </p:spPr>
      </p:sp>
      <p:sp>
        <p:nvSpPr>
          <p:cNvPr id="6" name="Input text"/>
          <p:cNvSpPr txBox="1"/>
          <p:nvPr/>
        </p:nvSpPr>
        <p:spPr>
          <a:xfrm>
            <a:off x="960120" y="1828800"/>
            <a:ext cx="2834640" cy="2011680"/>
          </a:xfrm>
          <a:prstGeom prst="rect">
            <a:avLst/>
          </a:prstGeom>
          <a:noFill/>
          <a:ln/>
        </p:spPr>
        <p:txBody>
          <a:bodyPr wrap="square" lIns="0" tIns="0" rIns="0" bIns="0" rtlCol="0" anchor="ctr"/>
          <a:lstStyle/>
          <a:p>
            <a:pPr indent="0" marL="0">
              <a:spcAft>
                <a:spcPts val="400"/>
              </a:spcAft>
              <a:buNone/>
            </a:pPr>
            <a:r>
              <a:rPr lang="en-US" sz="1900" b="1" dirty="0">
                <a:solidFill>
                  <a:srgbClr val="F8FAFC"/>
                </a:solidFill>
                <a:latin typeface="Arial" pitchFamily="34" charset="0"/>
                <a:ea typeface="Arial" pitchFamily="34" charset="-122"/>
                <a:cs typeface="Arial" pitchFamily="34" charset="-120"/>
              </a:rPr>
              <a:t>In</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Fridge items with days left</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Preferences, like vegetarian or quick</a:t>
            </a:r>
            <a:endParaRPr lang="en-US" sz="1900" dirty="0"/>
          </a:p>
        </p:txBody>
      </p:sp>
      <p:sp>
        <p:nvSpPr>
          <p:cNvPr id="7" name="Agent card"/>
          <p:cNvSpPr/>
          <p:nvPr/>
        </p:nvSpPr>
        <p:spPr>
          <a:xfrm>
            <a:off x="4453128" y="1828800"/>
            <a:ext cx="3291840" cy="2011680"/>
          </a:xfrm>
          <a:prstGeom prst="roundRect">
            <a:avLst>
              <a:gd name="adj" fmla="val 5455"/>
            </a:avLst>
          </a:prstGeom>
          <a:solidFill>
            <a:srgbClr val="121826"/>
          </a:solidFill>
          <a:ln w="19050">
            <a:solidFill>
              <a:srgbClr val="FB923C"/>
            </a:solidFill>
            <a:prstDash val="solid"/>
          </a:ln>
        </p:spPr>
      </p:sp>
      <p:sp>
        <p:nvSpPr>
          <p:cNvPr id="8" name="Agent text"/>
          <p:cNvSpPr txBox="1"/>
          <p:nvPr/>
        </p:nvSpPr>
        <p:spPr>
          <a:xfrm>
            <a:off x="4681728" y="1828800"/>
            <a:ext cx="2834640" cy="2011680"/>
          </a:xfrm>
          <a:prstGeom prst="rect">
            <a:avLst/>
          </a:prstGeom>
          <a:noFill/>
          <a:ln/>
        </p:spPr>
        <p:txBody>
          <a:bodyPr wrap="square" lIns="0" tIns="0" rIns="0" bIns="0" rtlCol="0" anchor="ctr"/>
          <a:lstStyle/>
          <a:p>
            <a:pPr indent="0" marL="0">
              <a:spcAft>
                <a:spcPts val="400"/>
              </a:spcAft>
              <a:buNone/>
            </a:pPr>
            <a:r>
              <a:rPr lang="en-US" sz="1900" b="1" dirty="0">
                <a:solidFill>
                  <a:srgbClr val="F8FAFC"/>
                </a:solidFill>
                <a:latin typeface="Arial" pitchFamily="34" charset="0"/>
                <a:ea typeface="Arial" pitchFamily="34" charset="-122"/>
                <a:cs typeface="Arial" pitchFamily="34" charset="-120"/>
              </a:rPr>
              <a:t>Agent</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Ranks dishes, expiring items first</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Uses tools to check recipes</a:t>
            </a:r>
            <a:endParaRPr lang="en-US" sz="1900" dirty="0"/>
          </a:p>
        </p:txBody>
      </p:sp>
      <p:sp>
        <p:nvSpPr>
          <p:cNvPr id="9" name="Output card"/>
          <p:cNvSpPr/>
          <p:nvPr/>
        </p:nvSpPr>
        <p:spPr>
          <a:xfrm>
            <a:off x="8165592" y="1828800"/>
            <a:ext cx="3291840" cy="2011680"/>
          </a:xfrm>
          <a:prstGeom prst="roundRect">
            <a:avLst>
              <a:gd name="adj" fmla="val 5455"/>
            </a:avLst>
          </a:prstGeom>
          <a:solidFill>
            <a:srgbClr val="121826"/>
          </a:solidFill>
          <a:ln w="19050">
            <a:solidFill>
              <a:srgbClr val="34D399"/>
            </a:solidFill>
            <a:prstDash val="solid"/>
          </a:ln>
        </p:spPr>
      </p:sp>
      <p:sp>
        <p:nvSpPr>
          <p:cNvPr id="10" name="Output text"/>
          <p:cNvSpPr txBox="1"/>
          <p:nvPr/>
        </p:nvSpPr>
        <p:spPr>
          <a:xfrm>
            <a:off x="8394192" y="1828800"/>
            <a:ext cx="2834640" cy="2011680"/>
          </a:xfrm>
          <a:prstGeom prst="rect">
            <a:avLst/>
          </a:prstGeom>
          <a:noFill/>
          <a:ln/>
        </p:spPr>
        <p:txBody>
          <a:bodyPr wrap="square" lIns="0" tIns="0" rIns="0" bIns="0" rtlCol="0" anchor="ctr"/>
          <a:lstStyle/>
          <a:p>
            <a:pPr indent="0" marL="0">
              <a:spcAft>
                <a:spcPts val="400"/>
              </a:spcAft>
              <a:buNone/>
            </a:pPr>
            <a:r>
              <a:rPr lang="en-US" sz="1900" b="1" dirty="0">
                <a:solidFill>
                  <a:srgbClr val="F8FAFC"/>
                </a:solidFill>
                <a:latin typeface="Arial" pitchFamily="34" charset="0"/>
                <a:ea typeface="Arial" pitchFamily="34" charset="-122"/>
                <a:cs typeface="Arial" pitchFamily="34" charset="-120"/>
              </a:rPr>
              <a:t>Out: up to 3 dishes</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Why it fits</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What you have, what's missing</a:t>
            </a:r>
            <a:endParaRPr lang="en-US" sz="1900" dirty="0"/>
          </a:p>
          <a:p>
            <a:pPr indent="0" marL="0">
              <a:spcAft>
                <a:spcPts val="400"/>
              </a:spcAft>
              <a:buNone/>
            </a:pPr>
            <a:r>
              <a:rPr lang="en-US" sz="1400" dirty="0">
                <a:solidFill>
                  <a:srgbClr val="94A3B8"/>
                </a:solidFill>
                <a:latin typeface="Arial" pitchFamily="34" charset="0"/>
                <a:ea typeface="Arial" pitchFamily="34" charset="-122"/>
                <a:cs typeface="Arial" pitchFamily="34" charset="-120"/>
              </a:rPr>
              <a:t>Step-by-step instructions</a:t>
            </a:r>
            <a:endParaRPr lang="en-US" sz="1900" dirty="0"/>
          </a:p>
        </p:txBody>
      </p:sp>
      <p:sp>
        <p:nvSpPr>
          <p:cNvPr id="11" name="Flow arrow 1"/>
          <p:cNvSpPr/>
          <p:nvPr/>
        </p:nvSpPr>
        <p:spPr>
          <a:xfrm>
            <a:off x="4069080" y="2834640"/>
            <a:ext cx="338328" cy="0"/>
          </a:xfrm>
          <a:prstGeom prst="line">
            <a:avLst/>
          </a:prstGeom>
          <a:noFill/>
          <a:ln w="25400">
            <a:solidFill>
              <a:srgbClr val="FB923C"/>
            </a:solidFill>
            <a:prstDash val="solid"/>
            <a:tailEnd type="triangle"/>
          </a:ln>
        </p:spPr>
      </p:sp>
      <p:sp>
        <p:nvSpPr>
          <p:cNvPr id="12" name="Flow arrow 2"/>
          <p:cNvSpPr/>
          <p:nvPr/>
        </p:nvSpPr>
        <p:spPr>
          <a:xfrm>
            <a:off x="7790688" y="2834640"/>
            <a:ext cx="329184" cy="0"/>
          </a:xfrm>
          <a:prstGeom prst="line">
            <a:avLst/>
          </a:prstGeom>
          <a:noFill/>
          <a:ln w="25400">
            <a:solidFill>
              <a:srgbClr val="FB923C"/>
            </a:solidFill>
            <a:prstDash val="solid"/>
            <a:tailEnd type="triangle"/>
          </a:ln>
        </p:spPr>
      </p:sp>
      <p:sp>
        <p:nvSpPr>
          <p:cNvPr id="13" name="Tools card"/>
          <p:cNvSpPr/>
          <p:nvPr/>
        </p:nvSpPr>
        <p:spPr>
          <a:xfrm>
            <a:off x="731520" y="4251960"/>
            <a:ext cx="5257800" cy="1600200"/>
          </a:xfrm>
          <a:prstGeom prst="roundRect">
            <a:avLst>
              <a:gd name="adj" fmla="val 6857"/>
            </a:avLst>
          </a:prstGeom>
          <a:solidFill>
            <a:srgbClr val="121826"/>
          </a:solidFill>
          <a:ln w="12700">
            <a:solidFill>
              <a:srgbClr val="263044"/>
            </a:solidFill>
            <a:prstDash val="solid"/>
          </a:ln>
        </p:spPr>
      </p:sp>
      <p:sp>
        <p:nvSpPr>
          <p:cNvPr id="14" name="Tools text"/>
          <p:cNvSpPr txBox="1"/>
          <p:nvPr/>
        </p:nvSpPr>
        <p:spPr>
          <a:xfrm>
            <a:off x="1005840" y="4251960"/>
            <a:ext cx="4754880" cy="1600200"/>
          </a:xfrm>
          <a:prstGeom prst="rect">
            <a:avLst/>
          </a:prstGeom>
          <a:noFill/>
          <a:ln/>
        </p:spPr>
        <p:txBody>
          <a:bodyPr wrap="square" lIns="0" tIns="0" rIns="0" bIns="0" rtlCol="0" anchor="ctr"/>
          <a:lstStyle/>
          <a:p>
            <a:pPr indent="0" marL="0">
              <a:spcAft>
                <a:spcPts val="300"/>
              </a:spcAft>
              <a:buNone/>
            </a:pPr>
            <a:r>
              <a:rPr lang="en-US" sz="1700" b="1" dirty="0">
                <a:solidFill>
                  <a:srgbClr val="F8FAFC"/>
                </a:solidFill>
                <a:latin typeface="Arial" pitchFamily="34" charset="0"/>
                <a:ea typeface="Arial" pitchFamily="34" charset="-122"/>
                <a:cs typeface="Arial" pitchFamily="34" charset="-120"/>
              </a:rPr>
              <a:t>Four tools of its own</a:t>
            </a:r>
            <a:endParaRPr lang="en-US" sz="1700" dirty="0"/>
          </a:p>
          <a:p>
            <a:pPr indent="0" marL="0">
              <a:spcAft>
                <a:spcPts val="300"/>
              </a:spcAft>
              <a:buNone/>
            </a:pPr>
            <a:r>
              <a:rPr lang="en-US" sz="1400" dirty="0">
                <a:solidFill>
                  <a:srgbClr val="94A3B8"/>
                </a:solidFill>
                <a:latin typeface="Arial" pitchFamily="34" charset="0"/>
                <a:ea typeface="Arial" pitchFamily="34" charset="-122"/>
                <a:cs typeface="Arial" pitchFamily="34" charset="-120"/>
              </a:rPr>
              <a:t>Rank built-in recipes, get recipe steps, search TheMealDB, read the shopping list.</a:t>
            </a:r>
            <a:endParaRPr lang="en-US" sz="1700" dirty="0"/>
          </a:p>
        </p:txBody>
      </p:sp>
      <p:sp>
        <p:nvSpPr>
          <p:cNvPr id="15" name="Fallback card"/>
          <p:cNvSpPr/>
          <p:nvPr/>
        </p:nvSpPr>
        <p:spPr>
          <a:xfrm>
            <a:off x="6199632" y="4251960"/>
            <a:ext cx="5257800" cy="1600200"/>
          </a:xfrm>
          <a:prstGeom prst="roundRect">
            <a:avLst>
              <a:gd name="adj" fmla="val 6857"/>
            </a:avLst>
          </a:prstGeom>
          <a:solidFill>
            <a:srgbClr val="121826"/>
          </a:solidFill>
          <a:ln w="12700">
            <a:solidFill>
              <a:srgbClr val="263044"/>
            </a:solidFill>
            <a:prstDash val="solid"/>
          </a:ln>
        </p:spPr>
      </p:sp>
      <p:sp>
        <p:nvSpPr>
          <p:cNvPr id="16" name="Fallback text"/>
          <p:cNvSpPr txBox="1"/>
          <p:nvPr/>
        </p:nvSpPr>
        <p:spPr>
          <a:xfrm>
            <a:off x="6473952" y="4251960"/>
            <a:ext cx="4754880" cy="1600200"/>
          </a:xfrm>
          <a:prstGeom prst="rect">
            <a:avLst/>
          </a:prstGeom>
          <a:noFill/>
          <a:ln/>
        </p:spPr>
        <p:txBody>
          <a:bodyPr wrap="square" lIns="0" tIns="0" rIns="0" bIns="0" rtlCol="0" anchor="ctr"/>
          <a:lstStyle/>
          <a:p>
            <a:pPr indent="0" marL="0">
              <a:spcAft>
                <a:spcPts val="300"/>
              </a:spcAft>
              <a:buNone/>
            </a:pPr>
            <a:r>
              <a:rPr lang="en-US" sz="1700" b="1" dirty="0">
                <a:solidFill>
                  <a:srgbClr val="F8FAFC"/>
                </a:solidFill>
                <a:latin typeface="Arial" pitchFamily="34" charset="0"/>
                <a:ea typeface="Arial" pitchFamily="34" charset="-122"/>
                <a:cs typeface="Arial" pitchFamily="34" charset="-120"/>
              </a:rPr>
              <a:t>If the LLM fails</a:t>
            </a:r>
            <a:endParaRPr lang="en-US" sz="1700" dirty="0"/>
          </a:p>
          <a:p>
            <a:pPr indent="0" marL="0">
              <a:spcAft>
                <a:spcPts val="300"/>
              </a:spcAft>
              <a:buNone/>
            </a:pPr>
            <a:r>
              <a:rPr lang="en-US" sz="1400" dirty="0">
                <a:solidFill>
                  <a:srgbClr val="94A3B8"/>
                </a:solidFill>
                <a:latin typeface="Arial" pitchFamily="34" charset="0"/>
                <a:ea typeface="Arial" pitchFamily="34" charset="-122"/>
                <a:cs typeface="Arial" pitchFamily="34" charset="-120"/>
              </a:rPr>
              <a:t>Falls back to 14 built-in recipes ranked by how much they use expiring items.</a:t>
            </a:r>
            <a:endParaRPr lang="en-US" sz="17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RELIABILITY  //  LLM PROVIDERS</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It always answers</a:t>
            </a:r>
            <a:endParaRPr lang="en-US" sz="3000" dirty="0"/>
          </a:p>
        </p:txBody>
      </p:sp>
      <p:sp>
        <p:nvSpPr>
          <p:cNvPr id="5" name="Provider 1 card"/>
          <p:cNvSpPr/>
          <p:nvPr/>
        </p:nvSpPr>
        <p:spPr>
          <a:xfrm>
            <a:off x="731520" y="1828800"/>
            <a:ext cx="2468880" cy="1920240"/>
          </a:xfrm>
          <a:prstGeom prst="roundRect">
            <a:avLst>
              <a:gd name="adj" fmla="val 5714"/>
            </a:avLst>
          </a:prstGeom>
          <a:solidFill>
            <a:srgbClr val="121826"/>
          </a:solidFill>
          <a:ln w="12700">
            <a:solidFill>
              <a:srgbClr val="263044"/>
            </a:solidFill>
            <a:prstDash val="solid"/>
          </a:ln>
        </p:spPr>
      </p:sp>
      <p:sp>
        <p:nvSpPr>
          <p:cNvPr id="6" name="Provider 1 number"/>
          <p:cNvSpPr txBox="1"/>
          <p:nvPr/>
        </p:nvSpPr>
        <p:spPr>
          <a:xfrm>
            <a:off x="960120" y="1965960"/>
            <a:ext cx="548640" cy="4572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1</a:t>
            </a:r>
            <a:endParaRPr lang="en-US" sz="2400" dirty="0"/>
          </a:p>
        </p:txBody>
      </p:sp>
      <p:sp>
        <p:nvSpPr>
          <p:cNvPr id="7" name="Provider 1 text"/>
          <p:cNvSpPr txBox="1"/>
          <p:nvPr/>
        </p:nvSpPr>
        <p:spPr>
          <a:xfrm>
            <a:off x="960120" y="2468880"/>
            <a:ext cx="2103120" cy="1188720"/>
          </a:xfrm>
          <a:prstGeom prst="rect">
            <a:avLst/>
          </a:prstGeom>
          <a:noFill/>
          <a:ln/>
        </p:spPr>
        <p:txBody>
          <a:bodyPr wrap="square" lIns="0" tIns="0" rIns="0" bIns="0" rtlCol="0" anchor="t"/>
          <a:lstStyle/>
          <a:p>
            <a:pPr indent="0" marL="0">
              <a:spcAft>
                <a:spcPts val="300"/>
              </a:spcAft>
              <a:buNone/>
            </a:pPr>
            <a:r>
              <a:rPr lang="en-US" sz="1800" b="1" dirty="0">
                <a:solidFill>
                  <a:srgbClr val="F8FAFC"/>
                </a:solidFill>
                <a:latin typeface="Arial" pitchFamily="34" charset="0"/>
                <a:ea typeface="Arial" pitchFamily="34" charset="-122"/>
                <a:cs typeface="Arial" pitchFamily="34" charset="-120"/>
              </a:rPr>
              <a:t>Amazon Bedrock</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via Strands Agents SDK,</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when AWS credentials exist</a:t>
            </a:r>
            <a:endParaRPr lang="en-US" sz="1800" dirty="0"/>
          </a:p>
        </p:txBody>
      </p:sp>
      <p:sp>
        <p:nvSpPr>
          <p:cNvPr id="8" name="Chain arrow 1"/>
          <p:cNvSpPr/>
          <p:nvPr/>
        </p:nvSpPr>
        <p:spPr>
          <a:xfrm>
            <a:off x="3218688" y="2788920"/>
            <a:ext cx="256032" cy="0"/>
          </a:xfrm>
          <a:prstGeom prst="line">
            <a:avLst/>
          </a:prstGeom>
          <a:noFill/>
          <a:ln w="25400">
            <a:solidFill>
              <a:srgbClr val="FB923C"/>
            </a:solidFill>
            <a:prstDash val="solid"/>
            <a:tailEnd type="triangle"/>
          </a:ln>
        </p:spPr>
      </p:sp>
      <p:sp>
        <p:nvSpPr>
          <p:cNvPr id="9" name="Provider 2 card"/>
          <p:cNvSpPr/>
          <p:nvPr/>
        </p:nvSpPr>
        <p:spPr>
          <a:xfrm>
            <a:off x="3483864" y="1828800"/>
            <a:ext cx="2468880" cy="1920240"/>
          </a:xfrm>
          <a:prstGeom prst="roundRect">
            <a:avLst>
              <a:gd name="adj" fmla="val 5714"/>
            </a:avLst>
          </a:prstGeom>
          <a:solidFill>
            <a:srgbClr val="121826"/>
          </a:solidFill>
          <a:ln w="31750">
            <a:solidFill>
              <a:srgbClr val="34D399"/>
            </a:solidFill>
            <a:prstDash val="solid"/>
          </a:ln>
        </p:spPr>
      </p:sp>
      <p:sp>
        <p:nvSpPr>
          <p:cNvPr id="10" name="Provider 2 number"/>
          <p:cNvSpPr txBox="1"/>
          <p:nvPr/>
        </p:nvSpPr>
        <p:spPr>
          <a:xfrm>
            <a:off x="3712464" y="1965960"/>
            <a:ext cx="548640" cy="457200"/>
          </a:xfrm>
          <a:prstGeom prst="rect">
            <a:avLst/>
          </a:prstGeom>
          <a:noFill/>
          <a:ln/>
        </p:spPr>
        <p:txBody>
          <a:bodyPr wrap="square" lIns="0" tIns="0" rIns="0" bIns="0" rtlCol="0" anchor="ctr"/>
          <a:lstStyle/>
          <a:p>
            <a:pPr indent="0" marL="0">
              <a:buNone/>
            </a:pPr>
            <a:r>
              <a:rPr lang="en-US" sz="2400" b="1" dirty="0">
                <a:solidFill>
                  <a:srgbClr val="34D399"/>
                </a:solidFill>
                <a:latin typeface="Arial" pitchFamily="34" charset="0"/>
                <a:ea typeface="Arial" pitchFamily="34" charset="-122"/>
                <a:cs typeface="Arial" pitchFamily="34" charset="-120"/>
              </a:rPr>
              <a:t>2</a:t>
            </a:r>
            <a:endParaRPr lang="en-US" sz="2400" dirty="0"/>
          </a:p>
        </p:txBody>
      </p:sp>
      <p:sp>
        <p:nvSpPr>
          <p:cNvPr id="11" name="Provider 2 text"/>
          <p:cNvSpPr txBox="1"/>
          <p:nvPr/>
        </p:nvSpPr>
        <p:spPr>
          <a:xfrm>
            <a:off x="3712464" y="2468880"/>
            <a:ext cx="2103120" cy="1188720"/>
          </a:xfrm>
          <a:prstGeom prst="rect">
            <a:avLst/>
          </a:prstGeom>
          <a:noFill/>
          <a:ln/>
        </p:spPr>
        <p:txBody>
          <a:bodyPr wrap="square" lIns="0" tIns="0" rIns="0" bIns="0" rtlCol="0" anchor="t"/>
          <a:lstStyle/>
          <a:p>
            <a:pPr indent="0" marL="0">
              <a:spcAft>
                <a:spcPts val="300"/>
              </a:spcAft>
              <a:buNone/>
            </a:pPr>
            <a:r>
              <a:rPr lang="en-US" sz="1800" b="1" dirty="0">
                <a:solidFill>
                  <a:srgbClr val="F8FAFC"/>
                </a:solidFill>
                <a:latin typeface="Arial" pitchFamily="34" charset="0"/>
                <a:ea typeface="Arial" pitchFamily="34" charset="-122"/>
                <a:cs typeface="Arial" pitchFamily="34" charset="-120"/>
              </a:rPr>
              <a:t>Anthropic API</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used in this demo</a:t>
            </a:r>
            <a:endParaRPr lang="en-US" sz="1800" dirty="0"/>
          </a:p>
        </p:txBody>
      </p:sp>
      <p:sp>
        <p:nvSpPr>
          <p:cNvPr id="12" name="Chain arrow 2"/>
          <p:cNvSpPr/>
          <p:nvPr/>
        </p:nvSpPr>
        <p:spPr>
          <a:xfrm>
            <a:off x="5971032" y="2788920"/>
            <a:ext cx="256032" cy="0"/>
          </a:xfrm>
          <a:prstGeom prst="line">
            <a:avLst/>
          </a:prstGeom>
          <a:noFill/>
          <a:ln w="25400">
            <a:solidFill>
              <a:srgbClr val="FB923C"/>
            </a:solidFill>
            <a:prstDash val="solid"/>
            <a:tailEnd type="triangle"/>
          </a:ln>
        </p:spPr>
      </p:sp>
      <p:sp>
        <p:nvSpPr>
          <p:cNvPr id="13" name="Provider 3 card"/>
          <p:cNvSpPr/>
          <p:nvPr/>
        </p:nvSpPr>
        <p:spPr>
          <a:xfrm>
            <a:off x="6236208" y="1828800"/>
            <a:ext cx="2468880" cy="1920240"/>
          </a:xfrm>
          <a:prstGeom prst="roundRect">
            <a:avLst>
              <a:gd name="adj" fmla="val 5714"/>
            </a:avLst>
          </a:prstGeom>
          <a:solidFill>
            <a:srgbClr val="121826"/>
          </a:solidFill>
          <a:ln w="12700">
            <a:solidFill>
              <a:srgbClr val="263044"/>
            </a:solidFill>
            <a:prstDash val="solid"/>
          </a:ln>
        </p:spPr>
      </p:sp>
      <p:sp>
        <p:nvSpPr>
          <p:cNvPr id="14" name="Provider 3 number"/>
          <p:cNvSpPr txBox="1"/>
          <p:nvPr/>
        </p:nvSpPr>
        <p:spPr>
          <a:xfrm>
            <a:off x="6464808" y="1965960"/>
            <a:ext cx="548640" cy="457200"/>
          </a:xfrm>
          <a:prstGeom prst="rect">
            <a:avLst/>
          </a:prstGeom>
          <a:noFill/>
          <a:ln/>
        </p:spPr>
        <p:txBody>
          <a:bodyPr wrap="square" lIns="0" tIns="0" rIns="0" bIns="0" rtlCol="0" anchor="ctr"/>
          <a:lstStyle/>
          <a:p>
            <a:pPr indent="0" marL="0">
              <a:buNone/>
            </a:pPr>
            <a:r>
              <a:rPr lang="en-US" sz="2400" b="1" dirty="0">
                <a:solidFill>
                  <a:srgbClr val="38BDF8"/>
                </a:solidFill>
                <a:latin typeface="Arial" pitchFamily="34" charset="0"/>
                <a:ea typeface="Arial" pitchFamily="34" charset="-122"/>
                <a:cs typeface="Arial" pitchFamily="34" charset="-120"/>
              </a:rPr>
              <a:t>3</a:t>
            </a:r>
            <a:endParaRPr lang="en-US" sz="2400" dirty="0"/>
          </a:p>
        </p:txBody>
      </p:sp>
      <p:sp>
        <p:nvSpPr>
          <p:cNvPr id="15" name="Provider 3 text"/>
          <p:cNvSpPr txBox="1"/>
          <p:nvPr/>
        </p:nvSpPr>
        <p:spPr>
          <a:xfrm>
            <a:off x="6464808" y="2468880"/>
            <a:ext cx="2103120" cy="1188720"/>
          </a:xfrm>
          <a:prstGeom prst="rect">
            <a:avLst/>
          </a:prstGeom>
          <a:noFill/>
          <a:ln/>
        </p:spPr>
        <p:txBody>
          <a:bodyPr wrap="square" lIns="0" tIns="0" rIns="0" bIns="0" rtlCol="0" anchor="t"/>
          <a:lstStyle/>
          <a:p>
            <a:pPr indent="0" marL="0">
              <a:spcAft>
                <a:spcPts val="300"/>
              </a:spcAft>
              <a:buNone/>
            </a:pPr>
            <a:r>
              <a:rPr lang="en-US" sz="1800" b="1" dirty="0">
                <a:solidFill>
                  <a:srgbClr val="F8FAFC"/>
                </a:solidFill>
                <a:latin typeface="Arial" pitchFamily="34" charset="0"/>
                <a:ea typeface="Arial" pitchFamily="34" charset="-122"/>
                <a:cs typeface="Arial" pitchFamily="34" charset="-120"/>
              </a:rPr>
              <a:t>OpenAI</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optional extra</a:t>
            </a:r>
            <a:endParaRPr lang="en-US" sz="1800" dirty="0"/>
          </a:p>
        </p:txBody>
      </p:sp>
      <p:sp>
        <p:nvSpPr>
          <p:cNvPr id="16" name="Chain arrow 3"/>
          <p:cNvSpPr/>
          <p:nvPr/>
        </p:nvSpPr>
        <p:spPr>
          <a:xfrm>
            <a:off x="8723376" y="2788920"/>
            <a:ext cx="256032" cy="0"/>
          </a:xfrm>
          <a:prstGeom prst="line">
            <a:avLst/>
          </a:prstGeom>
          <a:noFill/>
          <a:ln w="25400">
            <a:solidFill>
              <a:srgbClr val="FB923C"/>
            </a:solidFill>
            <a:prstDash val="solid"/>
            <a:tailEnd type="triangle"/>
          </a:ln>
        </p:spPr>
      </p:sp>
      <p:sp>
        <p:nvSpPr>
          <p:cNvPr id="17" name="Provider 4 card"/>
          <p:cNvSpPr/>
          <p:nvPr/>
        </p:nvSpPr>
        <p:spPr>
          <a:xfrm>
            <a:off x="8988552" y="1828800"/>
            <a:ext cx="2468880" cy="1920240"/>
          </a:xfrm>
          <a:prstGeom prst="roundRect">
            <a:avLst>
              <a:gd name="adj" fmla="val 5714"/>
            </a:avLst>
          </a:prstGeom>
          <a:solidFill>
            <a:srgbClr val="121826"/>
          </a:solidFill>
          <a:ln w="12700">
            <a:solidFill>
              <a:srgbClr val="263044"/>
            </a:solidFill>
            <a:prstDash val="solid"/>
          </a:ln>
        </p:spPr>
      </p:sp>
      <p:sp>
        <p:nvSpPr>
          <p:cNvPr id="18" name="Provider 4 number"/>
          <p:cNvSpPr txBox="1"/>
          <p:nvPr/>
        </p:nvSpPr>
        <p:spPr>
          <a:xfrm>
            <a:off x="9217152" y="1965960"/>
            <a:ext cx="548640" cy="457200"/>
          </a:xfrm>
          <a:prstGeom prst="rect">
            <a:avLst/>
          </a:prstGeom>
          <a:noFill/>
          <a:ln/>
        </p:spPr>
        <p:txBody>
          <a:bodyPr wrap="square" lIns="0" tIns="0" rIns="0" bIns="0" rtlCol="0" anchor="ctr"/>
          <a:lstStyle/>
          <a:p>
            <a:pPr indent="0" marL="0">
              <a:buNone/>
            </a:pPr>
            <a:r>
              <a:rPr lang="en-US" sz="2400" b="1" dirty="0">
                <a:solidFill>
                  <a:srgbClr val="FB923C"/>
                </a:solidFill>
                <a:latin typeface="Arial" pitchFamily="34" charset="0"/>
                <a:ea typeface="Arial" pitchFamily="34" charset="-122"/>
                <a:cs typeface="Arial" pitchFamily="34" charset="-120"/>
              </a:rPr>
              <a:t>4</a:t>
            </a:r>
            <a:endParaRPr lang="en-US" sz="2400" dirty="0"/>
          </a:p>
        </p:txBody>
      </p:sp>
      <p:sp>
        <p:nvSpPr>
          <p:cNvPr id="19" name="Provider 4 text"/>
          <p:cNvSpPr txBox="1"/>
          <p:nvPr/>
        </p:nvSpPr>
        <p:spPr>
          <a:xfrm>
            <a:off x="9217152" y="2468880"/>
            <a:ext cx="2103120" cy="1188720"/>
          </a:xfrm>
          <a:prstGeom prst="rect">
            <a:avLst/>
          </a:prstGeom>
          <a:noFill/>
          <a:ln/>
        </p:spPr>
        <p:txBody>
          <a:bodyPr wrap="square" lIns="0" tIns="0" rIns="0" bIns="0" rtlCol="0" anchor="t"/>
          <a:lstStyle/>
          <a:p>
            <a:pPr indent="0" marL="0">
              <a:spcAft>
                <a:spcPts val="300"/>
              </a:spcAft>
              <a:buNone/>
            </a:pPr>
            <a:r>
              <a:rPr lang="en-US" sz="1800" b="1" dirty="0">
                <a:solidFill>
                  <a:srgbClr val="F8FAFC"/>
                </a:solidFill>
                <a:latin typeface="Arial" pitchFamily="34" charset="0"/>
                <a:ea typeface="Arial" pitchFamily="34" charset="-122"/>
                <a:cs typeface="Arial" pitchFamily="34" charset="-120"/>
              </a:rPr>
              <a:t>Built-in fallback</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keyword router and</a:t>
            </a:r>
            <a:endParaRPr lang="en-US" sz="1800" dirty="0"/>
          </a:p>
          <a:p>
            <a:pPr indent="0" marL="0">
              <a:spcAft>
                <a:spcPts val="300"/>
              </a:spcAft>
              <a:buNone/>
            </a:pPr>
            <a:r>
              <a:rPr lang="en-US" sz="1300" dirty="0">
                <a:solidFill>
                  <a:srgbClr val="94A3B8"/>
                </a:solidFill>
                <a:latin typeface="Arial" pitchFamily="34" charset="0"/>
                <a:ea typeface="Arial" pitchFamily="34" charset="-122"/>
                <a:cs typeface="Arial" pitchFamily="34" charset="-120"/>
              </a:rPr>
              <a:t>recipe rules, no key</a:t>
            </a:r>
            <a:endParaRPr lang="en-US" sz="1800" dirty="0"/>
          </a:p>
        </p:txBody>
      </p:sp>
      <p:sp>
        <p:nvSpPr>
          <p:cNvPr id="20" name="Point icon 1 circle"/>
          <p:cNvSpPr/>
          <p:nvPr/>
        </p:nvSpPr>
        <p:spPr>
          <a:xfrm>
            <a:off x="731520" y="4206240"/>
            <a:ext cx="685800" cy="685800"/>
          </a:xfrm>
          <a:prstGeom prst="ellipse">
            <a:avLst/>
          </a:prstGeom>
          <a:solidFill>
            <a:srgbClr val="121826"/>
          </a:solidFill>
          <a:ln w="19050">
            <a:solidFill>
              <a:srgbClr val="34D399"/>
            </a:solidFill>
            <a:prstDash val="solid"/>
          </a:ln>
        </p:spPr>
      </p:sp>
      <p:pic>
        <p:nvPicPr>
          <p:cNvPr id="21" name="Point icon 1" descr="preencoded.png">    </p:cNvPr>
          <p:cNvPicPr>
            <a:picLocks noChangeAspect="1"/>
          </p:cNvPicPr>
          <p:nvPr/>
        </p:nvPicPr>
        <p:blipFill>
          <a:blip r:embed="rId2"/>
          <a:stretch>
            <a:fillRect/>
          </a:stretch>
        </p:blipFill>
        <p:spPr>
          <a:xfrm>
            <a:off x="916686" y="4391406"/>
            <a:ext cx="315468" cy="315468"/>
          </a:xfrm>
          <a:prstGeom prst="rect">
            <a:avLst/>
          </a:prstGeom>
        </p:spPr>
      </p:pic>
      <p:sp>
        <p:nvSpPr>
          <p:cNvPr id="22" name="Point text 1"/>
          <p:cNvSpPr txBox="1"/>
          <p:nvPr/>
        </p:nvSpPr>
        <p:spPr>
          <a:xfrm>
            <a:off x="1691640" y="4114800"/>
            <a:ext cx="9601200" cy="868680"/>
          </a:xfrm>
          <a:prstGeom prst="rect">
            <a:avLst/>
          </a:prstGeom>
          <a:noFill/>
          <a:ln/>
        </p:spPr>
        <p:txBody>
          <a:bodyPr wrap="square" lIns="0" tIns="0" rIns="0" bIns="0" rtlCol="0" anchor="ctr"/>
          <a:lstStyle/>
          <a:p>
            <a:pPr indent="0" marL="0">
              <a:buNone/>
            </a:pPr>
            <a:r>
              <a:rPr lang="en-US" sz="1800" b="1" dirty="0">
                <a:solidFill>
                  <a:srgbClr val="F8FAFC"/>
                </a:solidFill>
                <a:latin typeface="Arial" pitchFamily="34" charset="0"/>
                <a:ea typeface="Arial" pitchFamily="34" charset="-122"/>
                <a:cs typeface="Arial" pitchFamily="34" charset="-120"/>
              </a:rPr>
              <a:t>A failing provider is skipped for 5 minutes</a:t>
            </a:r>
            <a:endParaRPr lang="en-US" sz="1800" dirty="0"/>
          </a:p>
          <a:p>
            <a:pPr indent="0" marL="0">
              <a:buNone/>
            </a:pPr>
            <a:r>
              <a:rPr lang="en-US" sz="1400" dirty="0">
                <a:solidFill>
                  <a:srgbClr val="94A3B8"/>
                </a:solidFill>
                <a:latin typeface="Arial" pitchFamily="34" charset="0"/>
                <a:ea typeface="Arial" pitchFamily="34" charset="-122"/>
                <a:cs typeface="Arial" pitchFamily="34" charset="-120"/>
              </a:rPr>
              <a:t>One broken service costs a single slow call, not every answer.</a:t>
            </a:r>
            <a:endParaRPr lang="en-US" sz="1800" dirty="0"/>
          </a:p>
        </p:txBody>
      </p:sp>
      <p:sp>
        <p:nvSpPr>
          <p:cNvPr id="23" name="Point icon 2 circle"/>
          <p:cNvSpPr/>
          <p:nvPr/>
        </p:nvSpPr>
        <p:spPr>
          <a:xfrm>
            <a:off x="731520" y="5212080"/>
            <a:ext cx="685800" cy="685800"/>
          </a:xfrm>
          <a:prstGeom prst="ellipse">
            <a:avLst/>
          </a:prstGeom>
          <a:solidFill>
            <a:srgbClr val="121826"/>
          </a:solidFill>
          <a:ln w="19050">
            <a:solidFill>
              <a:srgbClr val="FB923C"/>
            </a:solidFill>
            <a:prstDash val="solid"/>
          </a:ln>
        </p:spPr>
      </p:sp>
      <p:pic>
        <p:nvPicPr>
          <p:cNvPr id="24" name="Point icon 2" descr="preencoded.png">    </p:cNvPr>
          <p:cNvPicPr>
            <a:picLocks noChangeAspect="1"/>
          </p:cNvPicPr>
          <p:nvPr/>
        </p:nvPicPr>
        <p:blipFill>
          <a:blip r:embed="rId3"/>
          <a:stretch>
            <a:fillRect/>
          </a:stretch>
        </p:blipFill>
        <p:spPr>
          <a:xfrm>
            <a:off x="916686" y="5397246"/>
            <a:ext cx="315468" cy="315468"/>
          </a:xfrm>
          <a:prstGeom prst="rect">
            <a:avLst/>
          </a:prstGeom>
        </p:spPr>
      </p:pic>
      <p:sp>
        <p:nvSpPr>
          <p:cNvPr id="25" name="Point text 2"/>
          <p:cNvSpPr txBox="1"/>
          <p:nvPr/>
        </p:nvSpPr>
        <p:spPr>
          <a:xfrm>
            <a:off x="1691640" y="5120640"/>
            <a:ext cx="9601200" cy="868680"/>
          </a:xfrm>
          <a:prstGeom prst="rect">
            <a:avLst/>
          </a:prstGeom>
          <a:noFill/>
          <a:ln/>
        </p:spPr>
        <p:txBody>
          <a:bodyPr wrap="square" lIns="0" tIns="0" rIns="0" bIns="0" rtlCol="0" anchor="ctr"/>
          <a:lstStyle/>
          <a:p>
            <a:pPr indent="0" marL="0">
              <a:buNone/>
            </a:pPr>
            <a:r>
              <a:rPr lang="en-US" sz="1800" b="1" dirty="0">
                <a:solidFill>
                  <a:srgbClr val="F8FAFC"/>
                </a:solidFill>
                <a:latin typeface="Arial" pitchFamily="34" charset="0"/>
                <a:ea typeface="Arial" pitchFamily="34" charset="-122"/>
                <a:cs typeface="Arial" pitchFamily="34" charset="-120"/>
              </a:rPr>
              <a:t>Limits keep answers fast</a:t>
            </a:r>
            <a:endParaRPr lang="en-US" sz="1800" dirty="0"/>
          </a:p>
          <a:p>
            <a:pPr indent="0" marL="0">
              <a:buNone/>
            </a:pPr>
            <a:r>
              <a:rPr lang="en-US" sz="1400" dirty="0">
                <a:solidFill>
                  <a:srgbClr val="94A3B8"/>
                </a:solidFill>
                <a:latin typeface="Arial" pitchFamily="34" charset="0"/>
                <a:ea typeface="Arial" pitchFamily="34" charset="-122"/>
                <a:cs typeface="Arial" pitchFamily="34" charset="-120"/>
              </a:rPr>
              <a:t>Time and tool-call caps stop a slow or looping model and move to the next provider.</a:t>
            </a:r>
            <a:endParaRPr lang="en-US" sz="18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2" name="Kicker"/>
          <p:cNvSpPr txBox="1"/>
          <p:nvPr/>
        </p:nvSpPr>
        <p:spPr>
          <a:xfrm>
            <a:off x="731520" y="411480"/>
            <a:ext cx="10698480" cy="274320"/>
          </a:xfrm>
          <a:prstGeom prst="rect">
            <a:avLst/>
          </a:prstGeom>
          <a:noFill/>
          <a:ln/>
        </p:spPr>
        <p:txBody>
          <a:bodyPr wrap="square" lIns="0" tIns="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GETTING STARTED  //  ONE API KEY</a:t>
            </a:r>
            <a:endParaRPr lang="en-US" sz="1200" dirty="0"/>
          </a:p>
        </p:txBody>
      </p:sp>
      <p:sp>
        <p:nvSpPr>
          <p:cNvPr id="3" name="Title"/>
          <p:cNvSpPr txBox="1"/>
          <p:nvPr/>
        </p:nvSpPr>
        <p:spPr>
          <a:xfrm>
            <a:off x="731520" y="731520"/>
            <a:ext cx="10698480" cy="640080"/>
          </a:xfrm>
          <a:prstGeom prst="rect">
            <a:avLst/>
          </a:prstGeom>
          <a:noFill/>
          <a:ln/>
        </p:spPr>
        <p:txBody>
          <a:bodyPr wrap="square" lIns="0" tIns="0" rIns="0" bIns="0" rtlCol="0" anchor="ctr"/>
          <a:lstStyle/>
          <a:p>
            <a:pPr indent="0" marL="0">
              <a:buNone/>
            </a:pPr>
            <a:r>
              <a:rPr lang="en-US" sz="3000" b="1" dirty="0">
                <a:solidFill>
                  <a:srgbClr val="F8FAFC"/>
                </a:solidFill>
                <a:latin typeface="Arial" pitchFamily="34" charset="0"/>
                <a:ea typeface="Arial" pitchFamily="34" charset="-122"/>
                <a:cs typeface="Arial" pitchFamily="34" charset="-120"/>
              </a:rPr>
              <a:t>Run it in five minutes</a:t>
            </a:r>
            <a:endParaRPr lang="en-US" sz="3000" dirty="0"/>
          </a:p>
        </p:txBody>
      </p:sp>
      <p:sp>
        <p:nvSpPr>
          <p:cNvPr id="5" name="Step 1 circle"/>
          <p:cNvSpPr/>
          <p:nvPr/>
        </p:nvSpPr>
        <p:spPr>
          <a:xfrm>
            <a:off x="731520" y="1645920"/>
            <a:ext cx="548640" cy="548640"/>
          </a:xfrm>
          <a:prstGeom prst="ellipse">
            <a:avLst/>
          </a:prstGeom>
          <a:solidFill>
            <a:srgbClr val="121826"/>
          </a:solidFill>
          <a:ln w="19050">
            <a:solidFill>
              <a:srgbClr val="FB923C"/>
            </a:solidFill>
            <a:prstDash val="solid"/>
          </a:ln>
        </p:spPr>
      </p:sp>
      <p:sp>
        <p:nvSpPr>
          <p:cNvPr id="6" name="Step 1 number"/>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800" b="1" dirty="0">
                <a:solidFill>
                  <a:srgbClr val="FB923C"/>
                </a:solidFill>
                <a:latin typeface="Arial" pitchFamily="34" charset="0"/>
                <a:ea typeface="Arial" pitchFamily="34" charset="-122"/>
                <a:cs typeface="Arial" pitchFamily="34" charset="-120"/>
              </a:rPr>
              <a:t>1</a:t>
            </a:r>
            <a:endParaRPr lang="en-US" sz="1800" dirty="0"/>
          </a:p>
        </p:txBody>
      </p:sp>
      <p:sp>
        <p:nvSpPr>
          <p:cNvPr id="7" name="Step 1 heading"/>
          <p:cNvSpPr txBox="1"/>
          <p:nvPr/>
        </p:nvSpPr>
        <p:spPr>
          <a:xfrm>
            <a:off x="1645920" y="1645920"/>
            <a:ext cx="9784080" cy="548640"/>
          </a:xfrm>
          <a:prstGeom prst="rect">
            <a:avLst/>
          </a:prstGeom>
          <a:noFill/>
          <a:ln/>
        </p:spPr>
        <p:txBody>
          <a:bodyPr wrap="square" lIns="0" tIns="0" rIns="0" bIns="0" rtlCol="0" anchor="ctr"/>
          <a:lstStyle/>
          <a:p>
            <a:pPr indent="0" marL="0">
              <a:buNone/>
            </a:pPr>
            <a:r>
              <a:rPr lang="en-US" sz="1800" b="1" dirty="0">
                <a:solidFill>
                  <a:srgbClr val="F8FAFC"/>
                </a:solidFill>
                <a:latin typeface="Arial" pitchFamily="34" charset="0"/>
                <a:ea typeface="Arial" pitchFamily="34" charset="-122"/>
                <a:cs typeface="Arial" pitchFamily="34" charset="-120"/>
              </a:rPr>
              <a:t>Install</a:t>
            </a:r>
            <a:endParaRPr lang="en-US" sz="1800" dirty="0"/>
          </a:p>
        </p:txBody>
      </p:sp>
      <p:sp>
        <p:nvSpPr>
          <p:cNvPr id="8" name="Step 1 box"/>
          <p:cNvSpPr/>
          <p:nvPr/>
        </p:nvSpPr>
        <p:spPr>
          <a:xfrm>
            <a:off x="1645920" y="2331720"/>
            <a:ext cx="9784080" cy="502920"/>
          </a:xfrm>
          <a:prstGeom prst="roundRect">
            <a:avLst>
              <a:gd name="adj" fmla="val 18182"/>
            </a:avLst>
          </a:prstGeom>
          <a:solidFill>
            <a:srgbClr val="0B0F17"/>
          </a:solidFill>
          <a:ln w="12700">
            <a:solidFill>
              <a:srgbClr val="263044"/>
            </a:solidFill>
            <a:prstDash val="solid"/>
          </a:ln>
        </p:spPr>
      </p:sp>
      <p:sp>
        <p:nvSpPr>
          <p:cNvPr id="9" name="Step 1 code"/>
          <p:cNvSpPr txBox="1"/>
          <p:nvPr/>
        </p:nvSpPr>
        <p:spPr>
          <a:xfrm>
            <a:off x="1828800" y="2331720"/>
            <a:ext cx="9418320" cy="502920"/>
          </a:xfrm>
          <a:prstGeom prst="rect">
            <a:avLst/>
          </a:prstGeom>
          <a:noFill/>
          <a:ln/>
        </p:spPr>
        <p:txBody>
          <a:bodyPr wrap="square" lIns="0" tIns="0" rIns="0" bIns="0" rtlCol="0" anchor="ctr"/>
          <a:lstStyle/>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pip install -r requirements.txt -r classifier/requirements.txt</a:t>
            </a:r>
            <a:endParaRPr lang="en-US" sz="1400" dirty="0"/>
          </a:p>
        </p:txBody>
      </p:sp>
      <p:sp>
        <p:nvSpPr>
          <p:cNvPr id="10" name="Step 2 circle"/>
          <p:cNvSpPr/>
          <p:nvPr/>
        </p:nvSpPr>
        <p:spPr>
          <a:xfrm>
            <a:off x="731520" y="3063240"/>
            <a:ext cx="548640" cy="548640"/>
          </a:xfrm>
          <a:prstGeom prst="ellipse">
            <a:avLst/>
          </a:prstGeom>
          <a:solidFill>
            <a:srgbClr val="121826"/>
          </a:solidFill>
          <a:ln w="19050">
            <a:solidFill>
              <a:srgbClr val="FB923C"/>
            </a:solidFill>
            <a:prstDash val="solid"/>
          </a:ln>
        </p:spPr>
      </p:sp>
      <p:sp>
        <p:nvSpPr>
          <p:cNvPr id="11" name="Step 2 number"/>
          <p:cNvSpPr txBox="1"/>
          <p:nvPr/>
        </p:nvSpPr>
        <p:spPr>
          <a:xfrm>
            <a:off x="731520" y="3063240"/>
            <a:ext cx="548640" cy="548640"/>
          </a:xfrm>
          <a:prstGeom prst="rect">
            <a:avLst/>
          </a:prstGeom>
          <a:noFill/>
          <a:ln/>
        </p:spPr>
        <p:txBody>
          <a:bodyPr wrap="square" lIns="0" tIns="0" rIns="0" bIns="0" rtlCol="0" anchor="ctr"/>
          <a:lstStyle/>
          <a:p>
            <a:pPr algn="ctr" indent="0" marL="0">
              <a:buNone/>
            </a:pPr>
            <a:r>
              <a:rPr lang="en-US" sz="1800" b="1" dirty="0">
                <a:solidFill>
                  <a:srgbClr val="FB923C"/>
                </a:solidFill>
                <a:latin typeface="Arial" pitchFamily="34" charset="0"/>
                <a:ea typeface="Arial" pitchFamily="34" charset="-122"/>
                <a:cs typeface="Arial" pitchFamily="34" charset="-120"/>
              </a:rPr>
              <a:t>2</a:t>
            </a:r>
            <a:endParaRPr lang="en-US" sz="1800" dirty="0"/>
          </a:p>
        </p:txBody>
      </p:sp>
      <p:sp>
        <p:nvSpPr>
          <p:cNvPr id="12" name="Step 2 heading"/>
          <p:cNvSpPr txBox="1"/>
          <p:nvPr/>
        </p:nvSpPr>
        <p:spPr>
          <a:xfrm>
            <a:off x="1645920" y="3063240"/>
            <a:ext cx="9784080" cy="548640"/>
          </a:xfrm>
          <a:prstGeom prst="rect">
            <a:avLst/>
          </a:prstGeom>
          <a:noFill/>
          <a:ln/>
        </p:spPr>
        <p:txBody>
          <a:bodyPr wrap="square" lIns="0" tIns="0" rIns="0" bIns="0" rtlCol="0" anchor="ctr"/>
          <a:lstStyle/>
          <a:p>
            <a:pPr indent="0" marL="0">
              <a:buNone/>
            </a:pPr>
            <a:r>
              <a:rPr lang="en-US" sz="1800" b="1" dirty="0">
                <a:solidFill>
                  <a:srgbClr val="F8FAFC"/>
                </a:solidFill>
                <a:latin typeface="Arial" pitchFamily="34" charset="0"/>
                <a:ea typeface="Arial" pitchFamily="34" charset="-122"/>
                <a:cs typeface="Arial" pitchFamily="34" charset="-120"/>
              </a:rPr>
              <a:t>Add one key to .env  (copy .env.example)</a:t>
            </a:r>
            <a:endParaRPr lang="en-US" sz="1800" dirty="0"/>
          </a:p>
        </p:txBody>
      </p:sp>
      <p:sp>
        <p:nvSpPr>
          <p:cNvPr id="13" name="Step 2 box"/>
          <p:cNvSpPr/>
          <p:nvPr/>
        </p:nvSpPr>
        <p:spPr>
          <a:xfrm>
            <a:off x="1645920" y="3749040"/>
            <a:ext cx="9784080" cy="502920"/>
          </a:xfrm>
          <a:prstGeom prst="roundRect">
            <a:avLst>
              <a:gd name="adj" fmla="val 18182"/>
            </a:avLst>
          </a:prstGeom>
          <a:solidFill>
            <a:srgbClr val="0B0F17"/>
          </a:solidFill>
          <a:ln w="12700">
            <a:solidFill>
              <a:srgbClr val="263044"/>
            </a:solidFill>
            <a:prstDash val="solid"/>
          </a:ln>
        </p:spPr>
      </p:sp>
      <p:sp>
        <p:nvSpPr>
          <p:cNvPr id="14" name="Step 2 code"/>
          <p:cNvSpPr txBox="1"/>
          <p:nvPr/>
        </p:nvSpPr>
        <p:spPr>
          <a:xfrm>
            <a:off x="1828800" y="3749040"/>
            <a:ext cx="9418320" cy="502920"/>
          </a:xfrm>
          <a:prstGeom prst="rect">
            <a:avLst/>
          </a:prstGeom>
          <a:noFill/>
          <a:ln/>
        </p:spPr>
        <p:txBody>
          <a:bodyPr wrap="square" lIns="0" tIns="0" rIns="0" bIns="0" rtlCol="0" anchor="ctr"/>
          <a:lstStyle/>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ANTHROPIC_API_KEY=your-key-here</a:t>
            </a:r>
            <a:endParaRPr lang="en-US" sz="1400" dirty="0"/>
          </a:p>
        </p:txBody>
      </p:sp>
      <p:sp>
        <p:nvSpPr>
          <p:cNvPr id="15" name="Step 3 circle"/>
          <p:cNvSpPr/>
          <p:nvPr/>
        </p:nvSpPr>
        <p:spPr>
          <a:xfrm>
            <a:off x="731520" y="4480560"/>
            <a:ext cx="548640" cy="548640"/>
          </a:xfrm>
          <a:prstGeom prst="ellipse">
            <a:avLst/>
          </a:prstGeom>
          <a:solidFill>
            <a:srgbClr val="121826"/>
          </a:solidFill>
          <a:ln w="19050">
            <a:solidFill>
              <a:srgbClr val="FB923C"/>
            </a:solidFill>
            <a:prstDash val="solid"/>
          </a:ln>
        </p:spPr>
      </p:sp>
      <p:sp>
        <p:nvSpPr>
          <p:cNvPr id="16" name="Step 3 number"/>
          <p:cNvSpPr txBox="1"/>
          <p:nvPr/>
        </p:nvSpPr>
        <p:spPr>
          <a:xfrm>
            <a:off x="731520" y="4480560"/>
            <a:ext cx="548640" cy="548640"/>
          </a:xfrm>
          <a:prstGeom prst="rect">
            <a:avLst/>
          </a:prstGeom>
          <a:noFill/>
          <a:ln/>
        </p:spPr>
        <p:txBody>
          <a:bodyPr wrap="square" lIns="0" tIns="0" rIns="0" bIns="0" rtlCol="0" anchor="ctr"/>
          <a:lstStyle/>
          <a:p>
            <a:pPr algn="ctr" indent="0" marL="0">
              <a:buNone/>
            </a:pPr>
            <a:r>
              <a:rPr lang="en-US" sz="1800" b="1" dirty="0">
                <a:solidFill>
                  <a:srgbClr val="FB923C"/>
                </a:solidFill>
                <a:latin typeface="Arial" pitchFamily="34" charset="0"/>
                <a:ea typeface="Arial" pitchFamily="34" charset="-122"/>
                <a:cs typeface="Arial" pitchFamily="34" charset="-120"/>
              </a:rPr>
              <a:t>3</a:t>
            </a:r>
            <a:endParaRPr lang="en-US" sz="1800" dirty="0"/>
          </a:p>
        </p:txBody>
      </p:sp>
      <p:sp>
        <p:nvSpPr>
          <p:cNvPr id="17" name="Step 3 heading"/>
          <p:cNvSpPr txBox="1"/>
          <p:nvPr/>
        </p:nvSpPr>
        <p:spPr>
          <a:xfrm>
            <a:off x="1645920" y="4480560"/>
            <a:ext cx="9784080" cy="548640"/>
          </a:xfrm>
          <a:prstGeom prst="rect">
            <a:avLst/>
          </a:prstGeom>
          <a:noFill/>
          <a:ln/>
        </p:spPr>
        <p:txBody>
          <a:bodyPr wrap="square" lIns="0" tIns="0" rIns="0" bIns="0" rtlCol="0" anchor="ctr"/>
          <a:lstStyle/>
          <a:p>
            <a:pPr indent="0" marL="0">
              <a:buNone/>
            </a:pPr>
            <a:r>
              <a:rPr lang="en-US" sz="1800" b="1" dirty="0">
                <a:solidFill>
                  <a:srgbClr val="F8FAFC"/>
                </a:solidFill>
                <a:latin typeface="Arial" pitchFamily="34" charset="0"/>
                <a:ea typeface="Arial" pitchFamily="34" charset="-122"/>
                <a:cs typeface="Arial" pitchFamily="34" charset="-120"/>
              </a:rPr>
              <a:t>Start four processes, one terminal each, then open http://127.0.0.1:8898</a:t>
            </a:r>
            <a:endParaRPr lang="en-US" sz="1800" dirty="0"/>
          </a:p>
        </p:txBody>
      </p:sp>
      <p:sp>
        <p:nvSpPr>
          <p:cNvPr id="18" name="Step 3 box"/>
          <p:cNvSpPr/>
          <p:nvPr/>
        </p:nvSpPr>
        <p:spPr>
          <a:xfrm>
            <a:off x="1645920" y="5166360"/>
            <a:ext cx="9784080" cy="1280160"/>
          </a:xfrm>
          <a:prstGeom prst="roundRect">
            <a:avLst>
              <a:gd name="adj" fmla="val 7143"/>
            </a:avLst>
          </a:prstGeom>
          <a:solidFill>
            <a:srgbClr val="0B0F17"/>
          </a:solidFill>
          <a:ln w="12700">
            <a:solidFill>
              <a:srgbClr val="263044"/>
            </a:solidFill>
            <a:prstDash val="solid"/>
          </a:ln>
        </p:spPr>
      </p:sp>
      <p:sp>
        <p:nvSpPr>
          <p:cNvPr id="19" name="Step 3 code"/>
          <p:cNvSpPr txBox="1"/>
          <p:nvPr/>
        </p:nvSpPr>
        <p:spPr>
          <a:xfrm>
            <a:off x="1828800" y="5166360"/>
            <a:ext cx="9418320" cy="1280160"/>
          </a:xfrm>
          <a:prstGeom prst="rect">
            <a:avLst/>
          </a:prstGeom>
          <a:noFill/>
          <a:ln/>
        </p:spPr>
        <p:txBody>
          <a:bodyPr wrap="square" lIns="0" tIns="0" rIns="0" bIns="0" rtlCol="0" anchor="ctr"/>
          <a:lstStyle/>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python -m classifier.api.main</a:t>
            </a:r>
            <a:endParaRPr lang="en-US" sz="1400" dirty="0"/>
          </a:p>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python -m mcp_server.server</a:t>
            </a:r>
            <a:endParaRPr lang="en-US" sz="1400" dirty="0"/>
          </a:p>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python -m dish_agent.service</a:t>
            </a:r>
            <a:endParaRPr lang="en-US" sz="1400" dirty="0"/>
          </a:p>
          <a:p>
            <a:pPr indent="0" marL="0">
              <a:spcAft>
                <a:spcPts val="300"/>
              </a:spcAft>
              <a:buNone/>
            </a:pPr>
            <a:r>
              <a:rPr lang="en-US" sz="1400" dirty="0">
                <a:solidFill>
                  <a:srgbClr val="34D399"/>
                </a:solidFill>
                <a:latin typeface="Consolas" pitchFamily="34" charset="0"/>
                <a:ea typeface="Consolas" pitchFamily="34" charset="-122"/>
                <a:cs typeface="Consolas" pitchFamily="34" charset="-120"/>
              </a:rPr>
              <a:t>python -m simulator.app</a:t>
            </a:r>
            <a:endParaRPr lang="en-US" sz="14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7"/>
        </a:solidFill>
      </p:bgPr>
    </p:bg>
    <p:spTree>
      <p:nvGrpSpPr>
        <p:cNvPr id="1" name=""/>
        <p:cNvGrpSpPr/>
        <p:nvPr/>
      </p:nvGrpSpPr>
      <p:grpSpPr/>
      <p:sp>
        <p:nvSpPr>
          <p:cNvPr id="3" name="Kicker"/>
          <p:cNvSpPr txBox="1"/>
          <p:nvPr/>
        </p:nvSpPr>
        <p:spPr>
          <a:xfrm>
            <a:off x="731520" y="1828800"/>
            <a:ext cx="10698480" cy="320040"/>
          </a:xfrm>
          <a:prstGeom prst="rect">
            <a:avLst/>
          </a:prstGeom>
          <a:noFill/>
          <a:ln/>
        </p:spPr>
        <p:txBody>
          <a:bodyPr wrap="square" lIns="0" tIns="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LIVE DEMO  //  ASK THE FRIDGE</a:t>
            </a:r>
            <a:endParaRPr lang="en-US" sz="1300" dirty="0"/>
          </a:p>
        </p:txBody>
      </p:sp>
      <p:sp>
        <p:nvSpPr>
          <p:cNvPr id="4" name="Title"/>
          <p:cNvSpPr txBox="1"/>
          <p:nvPr/>
        </p:nvSpPr>
        <p:spPr>
          <a:xfrm>
            <a:off x="731520" y="2240280"/>
            <a:ext cx="10698480" cy="914400"/>
          </a:xfrm>
          <a:prstGeom prst="rect">
            <a:avLst/>
          </a:prstGeom>
          <a:noFill/>
          <a:ln/>
        </p:spPr>
        <p:txBody>
          <a:bodyPr wrap="square" lIns="0" tIns="0" rIns="0" bIns="0" rtlCol="0" anchor="ctr"/>
          <a:lstStyle/>
          <a:p>
            <a:pPr indent="0" marL="0">
              <a:buNone/>
            </a:pPr>
            <a:r>
              <a:rPr lang="en-US" sz="4800" b="1" dirty="0">
                <a:solidFill>
                  <a:srgbClr val="F8FAFC"/>
                </a:solidFill>
                <a:latin typeface="Arial" pitchFamily="34" charset="0"/>
                <a:ea typeface="Arial" pitchFamily="34" charset="-122"/>
                <a:cs typeface="Arial" pitchFamily="34" charset="-120"/>
              </a:rPr>
              <a:t>Quick demo</a:t>
            </a:r>
            <a:endParaRPr lang="en-US" sz="4800" dirty="0"/>
          </a:p>
        </p:txBody>
      </p:sp>
      <p:sp>
        <p:nvSpPr>
          <p:cNvPr id="5" name="Subtitle"/>
          <p:cNvSpPr txBox="1"/>
          <p:nvPr/>
        </p:nvSpPr>
        <p:spPr>
          <a:xfrm>
            <a:off x="731520" y="3200400"/>
            <a:ext cx="10058400" cy="457200"/>
          </a:xfrm>
          <a:prstGeom prst="rect">
            <a:avLst/>
          </a:prstGeom>
          <a:noFill/>
          <a:ln/>
        </p:spPr>
        <p:txBody>
          <a:bodyPr wrap="square" lIns="0" tIns="0" rIns="0" bIns="0" rtlCol="0" anchor="ctr"/>
          <a:lstStyle/>
          <a:p>
            <a:pPr indent="0" marL="0">
              <a:buNone/>
            </a:pPr>
            <a:r>
              <a:rPr lang="en-US" sz="2000" dirty="0">
                <a:solidFill>
                  <a:srgbClr val="94A3B8"/>
                </a:solidFill>
                <a:latin typeface="Arial" pitchFamily="34" charset="0"/>
                <a:ea typeface="Arial" pitchFamily="34" charset="-122"/>
                <a:cs typeface="Arial" pitchFamily="34" charset="-120"/>
              </a:rPr>
              <a:t>Ask a question in the simulator and watch the agent call the tools.</a:t>
            </a:r>
            <a:endParaRPr lang="en-US" sz="2000" dirty="0"/>
          </a:p>
        </p:txBody>
      </p:sp>
      <p:sp>
        <p:nvSpPr>
          <p:cNvPr id="6" name="Chip 1"/>
          <p:cNvSpPr/>
          <p:nvPr/>
        </p:nvSpPr>
        <p:spPr>
          <a:xfrm>
            <a:off x="731520" y="4206240"/>
            <a:ext cx="3140964" cy="457200"/>
          </a:xfrm>
          <a:prstGeom prst="roundRect">
            <a:avLst>
              <a:gd name="adj" fmla="val 50000"/>
            </a:avLst>
          </a:prstGeom>
          <a:solidFill>
            <a:srgbClr val="121826"/>
          </a:solidFill>
          <a:ln w="15875">
            <a:solidFill>
              <a:srgbClr val="34D399"/>
            </a:solidFill>
            <a:prstDash val="solid"/>
          </a:ln>
        </p:spPr>
      </p:sp>
      <p:sp>
        <p:nvSpPr>
          <p:cNvPr id="7" name="Chip text 1"/>
          <p:cNvSpPr txBox="1"/>
          <p:nvPr/>
        </p:nvSpPr>
        <p:spPr>
          <a:xfrm>
            <a:off x="731520" y="4206240"/>
            <a:ext cx="3140964"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"What's in my fridge?"</a:t>
            </a:r>
            <a:endParaRPr lang="en-US" sz="1300" dirty="0"/>
          </a:p>
        </p:txBody>
      </p:sp>
      <p:sp>
        <p:nvSpPr>
          <p:cNvPr id="8" name="Chip 2"/>
          <p:cNvSpPr/>
          <p:nvPr/>
        </p:nvSpPr>
        <p:spPr>
          <a:xfrm>
            <a:off x="4101084" y="4206240"/>
            <a:ext cx="1783080" cy="457200"/>
          </a:xfrm>
          <a:prstGeom prst="roundRect">
            <a:avLst>
              <a:gd name="adj" fmla="val 50000"/>
            </a:avLst>
          </a:prstGeom>
          <a:solidFill>
            <a:srgbClr val="121826"/>
          </a:solidFill>
          <a:ln w="15875">
            <a:solidFill>
              <a:srgbClr val="38BDF8"/>
            </a:solidFill>
            <a:prstDash val="solid"/>
          </a:ln>
        </p:spPr>
      </p:sp>
      <p:sp>
        <p:nvSpPr>
          <p:cNvPr id="9" name="Chip text 2"/>
          <p:cNvSpPr txBox="1"/>
          <p:nvPr/>
        </p:nvSpPr>
        <p:spPr>
          <a:xfrm>
            <a:off x="4101084" y="4206240"/>
            <a:ext cx="1783080"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"What's expiring?"</a:t>
            </a:r>
            <a:endParaRPr lang="en-US" sz="1300" dirty="0"/>
          </a:p>
        </p:txBody>
      </p:sp>
      <p:sp>
        <p:nvSpPr>
          <p:cNvPr id="10" name="Chip 3"/>
          <p:cNvSpPr/>
          <p:nvPr/>
        </p:nvSpPr>
        <p:spPr>
          <a:xfrm>
            <a:off x="6112764" y="4206240"/>
            <a:ext cx="2523744" cy="457200"/>
          </a:xfrm>
          <a:prstGeom prst="roundRect">
            <a:avLst>
              <a:gd name="adj" fmla="val 50000"/>
            </a:avLst>
          </a:prstGeom>
          <a:solidFill>
            <a:srgbClr val="121826"/>
          </a:solidFill>
          <a:ln w="15875">
            <a:solidFill>
              <a:srgbClr val="38BDF8"/>
            </a:solidFill>
            <a:prstDash val="solid"/>
          </a:ln>
        </p:spPr>
      </p:sp>
      <p:sp>
        <p:nvSpPr>
          <p:cNvPr id="11" name="Chip text 3"/>
          <p:cNvSpPr txBox="1"/>
          <p:nvPr/>
        </p:nvSpPr>
        <p:spPr>
          <a:xfrm>
            <a:off x="6112764" y="4206240"/>
            <a:ext cx="2523744" cy="457200"/>
          </a:xfrm>
          <a:prstGeom prst="rect">
            <a:avLst/>
          </a:prstGeom>
          <a:noFill/>
          <a:ln/>
        </p:spPr>
        <p:txBody>
          <a:bodyPr wrap="square" lIns="0" tIns="0" rIns="0" bIns="0" rtlCol="0" anchor="ctr"/>
          <a:lstStyle/>
          <a:p>
            <a:pPr algn="ctr" indent="0" marL="0">
              <a:buNone/>
            </a:pPr>
            <a:r>
              <a:rPr lang="en-US" sz="1300" b="1" dirty="0">
                <a:solidFill>
                  <a:srgbClr val="F8FAFC"/>
                </a:solidFill>
                <a:latin typeface="Arial" pitchFamily="34" charset="0"/>
                <a:ea typeface="Arial" pitchFamily="34" charset="-122"/>
                <a:cs typeface="Arial" pitchFamily="34" charset="-120"/>
              </a:rPr>
              <a:t>"What should I cook?"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